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with the business problem: large SSIS estates are hard to understand, document, audit, and migrate.
- Position DataFlow Sentinel as turning static DTSX packages into actionable lineage, dependency, and column-level evidence.
- Stress: no client workload execution — analysis is offline and safe.
- Reinforce that this is a reusable EY accelerator, not a one-off client artefact.
- Set the expectation that the deck moves from problem → capability → demo → value →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Position the tool as an accelerator, not just a parser.
- It gives senior stakeholders a faster way to understand legacy integration complexity.
- Use the three callouts (Automated / Searchable / Migration-ready) as the headline narrative.
- Tie the value chain strip to outcomes: migration, remediation, governance decisions.
- Avoid going deep on architecture here — that comes on later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Frame the gap: teams can see packages in SSIS Designer but cannot easily convert them into lineage evidence.
- Five pain points are typical across client engagements.
- Stress the implicit nature of dependencies — they live inside XML and SQL, not in any catalogue.
- Weak documentation is a recurring audit finding.
- This slide sets up why an automated, evidence-grade parser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Emphasize that the tool is built for client delivery scenarios.
- Local execution — no SSIS execution, no client database calls.
- Six outputs are the deliverable surface area: HTML, Excel, column lineage, dependency graph, SQLite search index.
- The wheel metaphor: everything radiates from one engine, additive modules.
- Stakeholder-friendly outputs matter as much as the technical parser.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value is not just finding table names — the tool builds a fuller package understanding.
- Cover all six layers: package, connections, control flow, data flow, SQL/variables, tables/columns.
- Highlight that most existing parsers stop at tables/columns (the yellow band).
- Variables containing SQL and temp-table usage are common blind spots in estate audits.
- This fuller understanding is what enables column lineage and dependency evidence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Architecture is deliberately additive — modules plug into the main engine
- New capabilities: DB resolver, SQLite sidecar search, column lineage
- Offline analysis: no SSIS execution, no client DB calls
- Every claim carries provenance for audit defensibility
- Packaged as EXE for distributed client delivery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GUI designed for business-facing engineering teams, not only developers
- No command-line knowledge required to run analysis
- Supports distributed client delivery through a licensed EXE
- Live log console provides real-time run status
- Column-lineage toggle available per run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Master report is the executive and team navigation layer
- Single entry point into the estate
- Stakeholders move from summary to package detail in one click
- KPIs, complexity indicators, search, and dependency graph all in one report
- Designed for audit, migration scoping, and impact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Tool supports a live technical demo
- Start in the master report, click a package
- Open the data-flow map and inspect a path or table journey
- Drilldown flows from overview → connections → SQL → data flow → journey
- Export options: PNG, PDF, JSON, CSV, Excel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Migration teams need table lineage; design and reconciliation need column-level evidence
- Coverage status flags unresolved columns for SME review
- UPDATE/MERGE/INSERT captures physical write targets, not just SELECT sources
- Predicates labelled separately from value mappings
- Sample package: 217 → 275 lineage records — previously missed targets now visible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Trust hierarchy is package-first → cross-package → helper file → unresolved.
 • Tool never guesses; unresolved is a deliberate, defensible outcome.
 • 119 / 119 sample run resolved with package evidence alone — no helper file.
 • Improves audit and migration defensibility for senior reviewers.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SQLite sidecar indexes 7 entity types — packages, tables, columns, keywords, deps, file metadata, run metadata.
 • Decouples search from the HTML payload — scalable to thousands of packages.
 • Architecture is additive: core HTML reporting stays intact.
 • Foundation for future catalog, API, and impact-analysis capabilities.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Demo flows from estate launch → search → package drilldown → Excel evidence.
 • Outcome-led narrative: where does this table come from? Who writes to it?
 • Use the SQLite-backed search grid to answer impact questions live.
 • End with the Excel evidence pack as the audit / migration artifact.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value areas map technical features to program outcomes.
 • Discovery + scoping → fewer migration surprises; better estimates.
 • Audit evidence + impact analysis strengthen governance and risk posture.
 • Packaged IP supports repeatable EY client delivery across programs.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Three horizons: Stabilize &amp; Scale → Visualize &amp; Stitch → Modernize &amp; Transpile.
 • North-star is a transpiler; near-term is SQLite scale and column-journey overlay.
 • Closing ask: controlled pilot on a representative SSIS estate, not a large commitment.
 • Pilot pathway: Pilot → Validate → Evidence Pack → Migration Backlog.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5725" cy="514350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5" name="Text 2"/>
          <p:cNvSpPr/>
          <p:nvPr/>
        </p:nvSpPr>
        <p:spPr>
          <a:xfrm>
            <a:off x="428625" y="185738"/>
            <a:ext cx="71438" cy="71438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571500" y="157163"/>
            <a:ext cx="17464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· DATA ENGINEERING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 rot="5400000">
            <a:off x="7739751" y="1385385"/>
            <a:ext cx="22655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225" kern="0" dirty="0">
                <a:solidFill>
                  <a:srgbClr val="6A6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 BETTER WORKING WORLD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71500" y="1214438"/>
            <a:ext cx="8572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225" kern="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DATA ENGINEERING ACCELERATOR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71500" y="1482328"/>
            <a:ext cx="840105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5400" b="1" spc="-112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DataFlow Sentinel</a:t>
            </a:r>
            <a:endParaRPr lang="en-US" sz="5400" dirty="0"/>
          </a:p>
        </p:txBody>
      </p:sp>
      <p:sp>
        <p:nvSpPr>
          <p:cNvPr id="10" name="Text 7"/>
          <p:cNvSpPr/>
          <p:nvPr/>
        </p:nvSpPr>
        <p:spPr>
          <a:xfrm>
            <a:off x="571500" y="2325291"/>
            <a:ext cx="514350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B5B5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Expanding SSIS lineage analysis into migration intelligence</a:t>
            </a:r>
            <a:endParaRPr lang="en-US" sz="1238" dirty="0"/>
          </a:p>
        </p:txBody>
      </p:sp>
      <p:sp>
        <p:nvSpPr>
          <p:cNvPr id="11" name="Shape 8"/>
          <p:cNvSpPr/>
          <p:nvPr/>
        </p:nvSpPr>
        <p:spPr>
          <a:xfrm>
            <a:off x="571500" y="2916771"/>
            <a:ext cx="4460491" cy="0"/>
          </a:xfrm>
          <a:prstGeom prst="line">
            <a:avLst/>
          </a:prstGeom>
          <a:noFill/>
          <a:ln w="14288">
            <a:solidFill>
              <a:srgbClr val="FFE6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1500" y="2702458"/>
            <a:ext cx="4460491" cy="242969"/>
          </a:xfrm>
          <a:prstGeom prst="rect">
            <a:avLst/>
          </a:prstGeom>
          <a:noFill/>
          <a:ln/>
        </p:spPr>
        <p:txBody>
          <a:bodyPr wrap="square" lIns="0" tIns="0" rIns="0" bIns="5715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by EY Data Engineering as a reusable accelerator for SSIS modernization and estate discovery.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7138571" y="4036442"/>
            <a:ext cx="1576804" cy="3125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2678"/>
              </a:lnSpc>
              <a:buNone/>
            </a:pPr>
            <a:r>
              <a:rPr lang="en-US" sz="1575" b="1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14" name="Text 11"/>
          <p:cNvSpPr/>
          <p:nvPr/>
        </p:nvSpPr>
        <p:spPr>
          <a:xfrm>
            <a:off x="7421780" y="4376440"/>
            <a:ext cx="1293595" cy="1060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lnSpc>
                <a:spcPts val="1052"/>
              </a:lnSpc>
              <a:buNone/>
            </a:pPr>
            <a:r>
              <a:rPr lang="en-US" sz="800" spc="113" kern="0" dirty="0">
                <a:solidFill>
                  <a:srgbClr val="B5B5B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ACCELERATOR · V1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138571" y="4509939"/>
            <a:ext cx="1576804" cy="186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52"/>
              </a:lnSpc>
              <a:buNone/>
            </a:pPr>
            <a:r>
              <a:rPr lang="en-US" sz="800" spc="113" kern="0" dirty="0">
                <a:solidFill>
                  <a:srgbClr val="B5B5B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2A2A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9C9C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Tool Matters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77912"/>
            <a:ext cx="6858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DataFlow Sentinel converts SSIS .dtsx packages into lineage, dependency, column, search, and audit evidence — reducing estate opacity and accelerating migration, audit, and impact-analysis decisions.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2057400"/>
            <a:ext cx="2000250" cy="1571625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8625" y="2068116"/>
            <a:ext cx="2000250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359" y="2239566"/>
            <a:ext cx="278606" cy="264319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4361" y="2247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585788" y="2607469"/>
            <a:ext cx="16859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85788" y="2857500"/>
            <a:ext cx="1685925" cy="52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Scans package XML offline — no execution, no environment setup. Extracts connections, SQL tasks, data flows, variables, temp tables.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85788" y="3414713"/>
            <a:ext cx="1685925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788" y="3411141"/>
            <a:ext cx="1685925" cy="91440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ENGINE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571875" y="2057400"/>
            <a:ext cx="2000250" cy="1571625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571875" y="2068116"/>
            <a:ext cx="2000250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2609" y="2239566"/>
            <a:ext cx="278606" cy="264319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47611" y="224742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688" dirty="0"/>
          </a:p>
        </p:txBody>
      </p:sp>
      <p:sp>
        <p:nvSpPr>
          <p:cNvPr id="19" name="Text 17"/>
          <p:cNvSpPr/>
          <p:nvPr/>
        </p:nvSpPr>
        <p:spPr>
          <a:xfrm>
            <a:off x="3729038" y="2607469"/>
            <a:ext cx="16859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Searchable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3729038" y="2857500"/>
            <a:ext cx="1685925" cy="52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sidecar index of packages, tables, columns, keywords, dependencies. Built for large estates and future impact analysis.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29038" y="3414713"/>
            <a:ext cx="1685925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29038" y="3411141"/>
            <a:ext cx="1685925" cy="91440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INDEX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15125" y="2057400"/>
            <a:ext cx="2000250" cy="1571625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5125" y="2068116"/>
            <a:ext cx="2000250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75859" y="2239566"/>
            <a:ext cx="278606" cy="277713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90861" y="225412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688" dirty="0"/>
          </a:p>
        </p:txBody>
      </p:sp>
      <p:sp>
        <p:nvSpPr>
          <p:cNvPr id="27" name="Text 25"/>
          <p:cNvSpPr/>
          <p:nvPr/>
        </p:nvSpPr>
        <p:spPr>
          <a:xfrm>
            <a:off x="6872288" y="2620863"/>
            <a:ext cx="168592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Migration-ready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6872288" y="2870895"/>
            <a:ext cx="1685925" cy="3877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HTML, Excel, graph, and column-lineage outputs align directly to migration scoping, audit evidence, and backlog creation.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72288" y="3289697"/>
            <a:ext cx="1685925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2288" y="3286125"/>
            <a:ext cx="1685925" cy="200025"/>
          </a:xfrm>
          <a:prstGeom prst="rect">
            <a:avLst/>
          </a:prstGeom>
          <a:noFill/>
          <a:ln/>
        </p:spPr>
        <p:txBody>
          <a:bodyPr wrap="none" lIns="0" tIns="85725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OUTPUTS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8625" y="4261247"/>
            <a:ext cx="8286750" cy="3536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28625" y="4264819"/>
            <a:ext cx="82867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711803" y="4261247"/>
            <a:ext cx="0" cy="353616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8625" y="4611291"/>
            <a:ext cx="82867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42913" y="4261247"/>
            <a:ext cx="0" cy="353616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0075" y="4368403"/>
            <a:ext cx="90078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DTSX Packages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20713" y="43737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1649313" y="4368403"/>
            <a:ext cx="153925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Lineage Engine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980730" y="43737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3209330" y="4368403"/>
            <a:ext cx="536317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· Graphs · Excel · Search Index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PROBLEM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7858125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SSIS Estates Are Business-Critical but Poorly Observable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77912"/>
            <a:ext cx="65722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Legacy SSIS packages carry critical business logic, but that logic is distributed across XML, SQL tasks, data flows, variables, and temp tables — invisible to standard tooling and slow to reverse-engineer manually.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885950"/>
            <a:ext cx="1500188" cy="171450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39341" y="1885950"/>
            <a:ext cx="0" cy="171450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4356" y="2014538"/>
            <a:ext cx="12501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7928" y="2218134"/>
            <a:ext cx="250031" cy="250031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9001" y="222920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12" name="Text 10"/>
          <p:cNvSpPr/>
          <p:nvPr/>
        </p:nvSpPr>
        <p:spPr>
          <a:xfrm>
            <a:off x="564356" y="2571750"/>
            <a:ext cx="1250156" cy="279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Hidden transformation logic</a:t>
            </a:r>
            <a:endParaRPr lang="en-US" sz="816" dirty="0"/>
          </a:p>
        </p:txBody>
      </p:sp>
      <p:sp>
        <p:nvSpPr>
          <p:cNvPr id="13" name="Text 11"/>
          <p:cNvSpPr/>
          <p:nvPr/>
        </p:nvSpPr>
        <p:spPr>
          <a:xfrm>
            <a:off x="564356" y="2887861"/>
            <a:ext cx="1325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embedded in data flows and SQL tasks.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25266" y="1885950"/>
            <a:ext cx="1500188" cy="171450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135981" y="1885950"/>
            <a:ext cx="0" cy="171450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60997" y="2014538"/>
            <a:ext cx="12501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64569" y="2218134"/>
            <a:ext cx="250031" cy="250031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275642" y="222920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2260997" y="2571750"/>
            <a:ext cx="1250156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package review</a:t>
            </a:r>
            <a:endParaRPr lang="en-US" sz="816" dirty="0"/>
          </a:p>
        </p:txBody>
      </p:sp>
      <p:sp>
        <p:nvSpPr>
          <p:cNvPr id="20" name="Text 18"/>
          <p:cNvSpPr/>
          <p:nvPr/>
        </p:nvSpPr>
        <p:spPr>
          <a:xfrm>
            <a:off x="2260997" y="2758380"/>
            <a:ext cx="1325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Slow, inconsistent, hard to scale across hundreds of packages.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821906" y="1885950"/>
            <a:ext cx="1500188" cy="171450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832622" y="1885950"/>
            <a:ext cx="0" cy="171450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57638" y="2014538"/>
            <a:ext cx="12501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61209" y="2218134"/>
            <a:ext cx="250031" cy="250031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72282" y="222920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♪</a:t>
            </a:r>
            <a:endParaRPr lang="en-US" sz="1547" dirty="0"/>
          </a:p>
        </p:txBody>
      </p:sp>
      <p:sp>
        <p:nvSpPr>
          <p:cNvPr id="26" name="Text 24"/>
          <p:cNvSpPr/>
          <p:nvPr/>
        </p:nvSpPr>
        <p:spPr>
          <a:xfrm>
            <a:off x="3957638" y="2571750"/>
            <a:ext cx="1250156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documentation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3957638" y="2758380"/>
            <a:ext cx="1325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docs are often stale or missing entirely.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18547" y="1885950"/>
            <a:ext cx="1500188" cy="171450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529263" y="1885950"/>
            <a:ext cx="0" cy="171450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54278" y="2014538"/>
            <a:ext cx="12501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657850" y="2218134"/>
            <a:ext cx="250031" cy="250031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68923" y="222920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5654278" y="2571750"/>
            <a:ext cx="1325166" cy="139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Difficult impact analysis</a:t>
            </a:r>
            <a:endParaRPr lang="en-US" sz="816" dirty="0"/>
          </a:p>
        </p:txBody>
      </p:sp>
      <p:sp>
        <p:nvSpPr>
          <p:cNvPr id="34" name="Text 32"/>
          <p:cNvSpPr/>
          <p:nvPr/>
        </p:nvSpPr>
        <p:spPr>
          <a:xfrm>
            <a:off x="5654278" y="2758380"/>
            <a:ext cx="13251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Package-to-package dependencies are implicit, not explicit.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215188" y="1885950"/>
            <a:ext cx="1500188" cy="171450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225903" y="1885950"/>
            <a:ext cx="0" cy="171450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50919" y="2014538"/>
            <a:ext cx="12501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354491" y="2218134"/>
            <a:ext cx="250031" cy="250031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65563" y="222920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?</a:t>
            </a:r>
            <a:endParaRPr lang="en-US" sz="1547" dirty="0"/>
          </a:p>
        </p:txBody>
      </p:sp>
      <p:sp>
        <p:nvSpPr>
          <p:cNvPr id="40" name="Text 38"/>
          <p:cNvSpPr/>
          <p:nvPr/>
        </p:nvSpPr>
        <p:spPr>
          <a:xfrm>
            <a:off x="7350919" y="2571750"/>
            <a:ext cx="1250156" cy="13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16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uncertainty</a:t>
            </a:r>
            <a:endParaRPr lang="en-US" sz="816" dirty="0"/>
          </a:p>
        </p:txBody>
      </p:sp>
      <p:sp>
        <p:nvSpPr>
          <p:cNvPr id="41" name="Text 39"/>
          <p:cNvSpPr/>
          <p:nvPr/>
        </p:nvSpPr>
        <p:spPr>
          <a:xfrm>
            <a:off x="7350919" y="2758380"/>
            <a:ext cx="132516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reliable source-target mapping before design decisions.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8625" y="4243388"/>
            <a:ext cx="8286750" cy="4000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85788" y="4389834"/>
            <a:ext cx="699541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35" kern="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23355" y="4343400"/>
            <a:ext cx="7144" cy="200025"/>
          </a:xfrm>
          <a:prstGeom prst="rect">
            <a:avLst/>
          </a:prstGeom>
          <a:solidFill>
            <a:srgbClr val="2A2A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230511" y="4378449"/>
            <a:ext cx="732770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can see packages in SSIS Designer — but cannot easily convert the estate into searchable, auditable, connected lineage evidence.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EY Accelerator for SSIS Lineage Intelligence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63625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DataFlow Sentinel is a Windows desktop accelerator for offline SSIS package analysis — local execution, no database calls, evidence-grade outputs.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717947" y="1860947"/>
            <a:ext cx="2707481" cy="2400300"/>
          </a:xfrm>
          <a:prstGeom prst="roundRect">
            <a:avLst>
              <a:gd name="adj" fmla="val 38095"/>
            </a:avLst>
          </a:prstGeom>
          <a:noFill/>
          <a:ln w="7144">
            <a:solidFill>
              <a:srgbClr val="E5E5EA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47105" y="4536281"/>
            <a:ext cx="24289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CORE OUTPUTS · RADIATING FROM ENGINE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929063" y="1643063"/>
            <a:ext cx="3135213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-11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core outputs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7078563" y="1700213"/>
            <a:ext cx="176775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· DRILLDOWN · SEARCH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29063" y="1907381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39778" y="1907381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50506" y="1993106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71231" y="2127945"/>
            <a:ext cx="747164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HTML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50506" y="2100263"/>
            <a:ext cx="57786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4050506" y="2300288"/>
            <a:ext cx="2135981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Estate-wide dashboard with KPIs, search, dependency graph.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357938" y="1907381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68653" y="1907381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9381" y="1993106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086935" y="2127945"/>
            <a:ext cx="686749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HTML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79381" y="2100263"/>
            <a:ext cx="56469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6479381" y="2300288"/>
            <a:ext cx="2135981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Per-package drilldown with control flow, data flow, and connections.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929063" y="2843213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939778" y="2843213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0506" y="2928938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95453" y="3063776"/>
            <a:ext cx="865482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Evidence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050506" y="3036094"/>
            <a:ext cx="60208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4050506" y="3236119"/>
            <a:ext cx="2135981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Multi-sheet evidence pack — resolution summary, column lineage, coverage.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7938" y="2843213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368653" y="2843213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9381" y="2928938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32266" y="3063776"/>
            <a:ext cx="925199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Lineage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479381" y="3036094"/>
            <a:ext cx="7100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479381" y="3236119"/>
            <a:ext cx="2135981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Source-to-target column mapping with UPDATE/MERGE/INSERT support.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29063" y="3779044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939778" y="3779044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50506" y="3864769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00761" y="3999607"/>
            <a:ext cx="1091096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Graph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050506" y="3971925"/>
            <a:ext cx="2073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40" name="Text 38"/>
          <p:cNvSpPr/>
          <p:nvPr/>
        </p:nvSpPr>
        <p:spPr>
          <a:xfrm>
            <a:off x="4050506" y="4171950"/>
            <a:ext cx="2135981" cy="159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package dependency view with level ordering.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357938" y="3779044"/>
            <a:ext cx="2357438" cy="864394"/>
          </a:xfrm>
          <a:prstGeom prst="roundRect">
            <a:avLst>
              <a:gd name="adj" fmla="val 220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6368653" y="3779044"/>
            <a:ext cx="0" cy="864394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9381" y="3864769"/>
            <a:ext cx="213598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930219" y="3999607"/>
            <a:ext cx="1155557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-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Search Index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79381" y="3971925"/>
            <a:ext cx="4079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479381" y="4171950"/>
            <a:ext cx="2135981" cy="318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38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Sidecar index for large-estate search and future impact analysis.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043057" y="1771650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726633" y="1859982"/>
            <a:ext cx="690109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749493" y="1871663"/>
            <a:ext cx="644389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HTML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939988" y="2269034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017140" y="2188595"/>
            <a:ext cx="649032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040000" y="2200275"/>
            <a:ext cx="603312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HTML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2775682" y="3796010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52834" y="3715572"/>
            <a:ext cx="813338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2875694" y="3727252"/>
            <a:ext cx="767618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Lineage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043057" y="4055864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607868" y="4144197"/>
            <a:ext cx="927638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1630728" y="4155877"/>
            <a:ext cx="881918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Graph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470608" y="3796010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77203" y="3715572"/>
            <a:ext cx="973403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500063" y="3727252"/>
            <a:ext cx="927683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Search Index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1269802" y="2269034"/>
            <a:ext cx="57150" cy="571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477203" y="2188595"/>
            <a:ext cx="772597" cy="218027"/>
          </a:xfrm>
          <a:prstGeom prst="rect">
            <a:avLst/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00063" y="2200275"/>
            <a:ext cx="726877" cy="194667"/>
          </a:xfrm>
          <a:prstGeom prst="rect">
            <a:avLst/>
          </a:prstGeom>
          <a:noFill/>
          <a:ln/>
        </p:spPr>
        <p:txBody>
          <a:bodyPr wrap="none" lIns="57150" tIns="28575" rIns="57150" bIns="28575" rtlCol="0" anchor="ctr"/>
          <a:lstStyle/>
          <a:p>
            <a:pPr algn="ctr" indent="0" marL="0">
              <a:lnSpc>
                <a:spcPts val="970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Evidence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500188" y="2643188"/>
            <a:ext cx="1143000" cy="1143000"/>
          </a:xfrm>
          <a:prstGeom prst="ellipse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50800" dir="16200000">
              <a:srgbClr val="FFFFFF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737606" y="3006514"/>
            <a:ext cx="668164" cy="283777"/>
          </a:xfrm>
          <a:prstGeom prst="rect">
            <a:avLst/>
          </a:prstGeom>
          <a:noFill/>
          <a:ln/>
        </p:spPr>
        <p:txBody>
          <a:bodyPr wrap="square" lIns="85725" tIns="0" rIns="85725" bIns="0" rtlCol="0" anchor="t"/>
          <a:lstStyle/>
          <a:p>
            <a:pPr algn="ctr" indent="0" marL="0">
              <a:lnSpc>
                <a:spcPts val="1035"/>
              </a:lnSpc>
              <a:buNone/>
            </a:pPr>
            <a:r>
              <a:rPr lang="en-US" sz="900" b="1" spc="-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DataFlow</a:t>
            </a:r>
            <a:endParaRPr lang="en-US" sz="900" dirty="0"/>
          </a:p>
          <a:p>
            <a:pPr algn="ctr" indent="0" marL="0">
              <a:lnSpc>
                <a:spcPts val="1035"/>
              </a:lnSpc>
              <a:buNone/>
            </a:pPr>
            <a:r>
              <a:rPr lang="en-US" sz="900" b="1" spc="-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Sentinel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658131" y="3326420"/>
            <a:ext cx="9850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135" kern="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ACCELERATOR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SCOPE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Scope: Beyond Simple Table Extraction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63625"/>
            <a:ext cx="771525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parser reads SSIS package XML and builds a fuller package understanding across control flow, data flow, SQL text, variables, and output artifacts.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600200"/>
            <a:ext cx="53102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DTSX ANATOMY — WHAT IS PARSED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33261" y="1575197"/>
            <a:ext cx="537656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31756" y="1646634"/>
            <a:ext cx="57150" cy="571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753174" y="1585913"/>
            <a:ext cx="497830" cy="1785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85294" y="1575197"/>
            <a:ext cx="953646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86736" y="1646634"/>
            <a:ext cx="57150" cy="57150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08154" y="1585913"/>
            <a:ext cx="907926" cy="1785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PARSED LAYER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50370" y="1575197"/>
            <a:ext cx="1487865" cy="200025"/>
          </a:xfrm>
          <a:prstGeom prst="roundRect">
            <a:avLst>
              <a:gd name="adj" fmla="val 475714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51812" y="1646634"/>
            <a:ext cx="57150" cy="57150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73230" y="1585913"/>
            <a:ext cx="1442145" cy="1785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PARSERS STOP HERE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8625" y="1835944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7213" y="1910953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FFFFFF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3488" y="1892201"/>
            <a:ext cx="78232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868841" y="1908274"/>
            <a:ext cx="7179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CONTAINER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08264" y="2121694"/>
            <a:ext cx="127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428625" y="2278856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39341" y="2278856"/>
            <a:ext cx="0" cy="257175"/>
          </a:xfrm>
          <a:prstGeom prst="line">
            <a:avLst/>
          </a:prstGeom>
          <a:noFill/>
          <a:ln w="21431">
            <a:solidFill>
              <a:srgbClr val="D6D6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8644" y="2353866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84920" y="2335113"/>
            <a:ext cx="74543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145313" y="2351187"/>
            <a:ext cx="15279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MANAGERS · STRINGS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08264" y="2564606"/>
            <a:ext cx="127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13" dirty="0"/>
          </a:p>
        </p:txBody>
      </p:sp>
      <p:sp>
        <p:nvSpPr>
          <p:cNvPr id="28" name="Text 26"/>
          <p:cNvSpPr/>
          <p:nvPr/>
        </p:nvSpPr>
        <p:spPr>
          <a:xfrm>
            <a:off x="428625" y="2721769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39341" y="2721769"/>
            <a:ext cx="0" cy="257175"/>
          </a:xfrm>
          <a:prstGeom prst="line">
            <a:avLst/>
          </a:prstGeom>
          <a:noFill/>
          <a:ln w="21431">
            <a:solidFill>
              <a:srgbClr val="D6D6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644" y="2796778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4920" y="2778026"/>
            <a:ext cx="72746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Flow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91945" y="2794099"/>
            <a:ext cx="16905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· PRECEDENCE · RELATIONSHIPS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08264" y="3007519"/>
            <a:ext cx="127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428625" y="3164681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39341" y="3164681"/>
            <a:ext cx="0" cy="257175"/>
          </a:xfrm>
          <a:prstGeom prst="line">
            <a:avLst/>
          </a:prstGeom>
          <a:noFill/>
          <a:ln w="21431">
            <a:solidFill>
              <a:srgbClr val="D6D6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644" y="3239691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84920" y="3220938"/>
            <a:ext cx="77263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21165" y="3237012"/>
            <a:ext cx="187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 · PATHS · TRANSFORMATIONS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508264" y="3450431"/>
            <a:ext cx="127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13" dirty="0"/>
          </a:p>
        </p:txBody>
      </p:sp>
      <p:sp>
        <p:nvSpPr>
          <p:cNvPr id="40" name="Text 38"/>
          <p:cNvSpPr/>
          <p:nvPr/>
        </p:nvSpPr>
        <p:spPr>
          <a:xfrm>
            <a:off x="428625" y="3607594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39341" y="3607594"/>
            <a:ext cx="0" cy="257175"/>
          </a:xfrm>
          <a:prstGeom prst="line">
            <a:avLst/>
          </a:prstGeom>
          <a:noFill/>
          <a:ln w="21431">
            <a:solidFill>
              <a:srgbClr val="D6D6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8644" y="3682603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L5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84920" y="3663851"/>
            <a:ext cx="61097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Variables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603727" y="3679924"/>
            <a:ext cx="20927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2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TEXT · VARIABLE-BORNE SQL · TEMP TABLES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508264" y="3893344"/>
            <a:ext cx="12736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▼</a:t>
            </a:r>
            <a:endParaRPr lang="en-US" sz="1013" dirty="0"/>
          </a:p>
        </p:txBody>
      </p:sp>
      <p:sp>
        <p:nvSpPr>
          <p:cNvPr id="46" name="Text 44"/>
          <p:cNvSpPr/>
          <p:nvPr/>
        </p:nvSpPr>
        <p:spPr>
          <a:xfrm>
            <a:off x="428625" y="4050506"/>
            <a:ext cx="8286750" cy="257175"/>
          </a:xfrm>
          <a:prstGeom prst="roundRect">
            <a:avLst>
              <a:gd name="adj" fmla="val 740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439341" y="4050506"/>
            <a:ext cx="0" cy="257175"/>
          </a:xfrm>
          <a:prstGeom prst="line">
            <a:avLst/>
          </a:prstGeom>
          <a:noFill/>
          <a:ln w="21431">
            <a:solidFill>
              <a:srgbClr val="2E2E3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8644" y="4125516"/>
            <a:ext cx="191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>
                    <a:alpha val="70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L6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4920" y="4106763"/>
            <a:ext cx="659215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b="1" spc="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Tables / Columns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063160" y="4122837"/>
            <a:ext cx="16150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23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· TARGET · COLUMN LINEAGE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28625" y="3178969"/>
            <a:ext cx="71506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PARSER READS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593583" y="3195042"/>
            <a:ext cx="142516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EVIDENCE CATEGORIES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28625" y="3375422"/>
            <a:ext cx="4093369" cy="1268016"/>
          </a:xfrm>
          <a:prstGeom prst="roundRect">
            <a:avLst>
              <a:gd name="adj" fmla="val 150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439341" y="3375422"/>
            <a:ext cx="0" cy="1268016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1753" y="3511153"/>
            <a:ext cx="1416638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 &amp; FLOW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64356" y="3718322"/>
            <a:ext cx="3843338" cy="739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managers and connection strings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SQL Tasks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 Tasks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components and paths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622006" y="3375422"/>
            <a:ext cx="4093369" cy="1268016"/>
          </a:xfrm>
          <a:prstGeom prst="roundRect">
            <a:avLst>
              <a:gd name="adj" fmla="val 150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4632722" y="3375422"/>
            <a:ext cx="0" cy="1268016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52616" y="3511153"/>
            <a:ext cx="2068966" cy="128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SQL, VARIABLES &amp; METADATA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757738" y="3718322"/>
            <a:ext cx="3843338" cy="924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Variables containing SQL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Temp-table creation and usage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Flat file and Excel connections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Control-flow relationships</a:t>
            </a:r>
            <a:endParaRPr lang="en-US" sz="800" dirty="0"/>
          </a:p>
          <a:p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984"/>
              </a:lnSpc>
              <a:spcAft>
                <a:spcPts val="394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metadata and creator information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Accelerator Works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49337"/>
            <a:ext cx="714375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deliberately additive architecture — new capabilities (database resolution, SQLite sidecar, column lineage) live in focused modules around the main engine.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357188" y="1643063"/>
            <a:ext cx="576523" cy="1364679"/>
          </a:xfrm>
          <a:prstGeom prst="roundRect">
            <a:avLst>
              <a:gd name="adj" fmla="val 23130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7200" y="1743075"/>
            <a:ext cx="376498" cy="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101" kern="0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989534"/>
            <a:ext cx="376498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GUI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248049"/>
            <a:ext cx="387793" cy="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Folder, output, helper selection; live log console.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1254" y="184487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12" name="Text 10"/>
          <p:cNvSpPr/>
          <p:nvPr/>
        </p:nvSpPr>
        <p:spPr>
          <a:xfrm>
            <a:off x="2479551" y="1643063"/>
            <a:ext cx="549399" cy="1364679"/>
          </a:xfrm>
          <a:prstGeom prst="roundRect">
            <a:avLst>
              <a:gd name="adj" fmla="val 24272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579563" y="1743075"/>
            <a:ext cx="349374" cy="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101" kern="0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79563" y="1989534"/>
            <a:ext cx="349374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DTSX Parser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9563" y="2248049"/>
            <a:ext cx="359855" cy="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Parses package XML into structured lineage objects.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46494" y="184487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17" name="Text 15"/>
          <p:cNvSpPr/>
          <p:nvPr/>
        </p:nvSpPr>
        <p:spPr>
          <a:xfrm>
            <a:off x="4574791" y="1643063"/>
            <a:ext cx="603758" cy="1364679"/>
          </a:xfrm>
          <a:prstGeom prst="roundRect">
            <a:avLst>
              <a:gd name="adj" fmla="val 22087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74803" y="1743075"/>
            <a:ext cx="403733" cy="219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101" kern="0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4803" y="1989534"/>
            <a:ext cx="403733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Resolver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74803" y="2248049"/>
            <a:ext cx="415846" cy="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Package-first evidence; helper file as fallback only.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796093" y="184487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22" name="Text 20"/>
          <p:cNvSpPr/>
          <p:nvPr/>
        </p:nvSpPr>
        <p:spPr>
          <a:xfrm>
            <a:off x="6724390" y="1643063"/>
            <a:ext cx="663029" cy="1262881"/>
          </a:xfrm>
          <a:prstGeom prst="roundRect">
            <a:avLst>
              <a:gd name="adj" fmla="val 20112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24402" y="1743075"/>
            <a:ext cx="463004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101" kern="0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24402" y="1887736"/>
            <a:ext cx="463004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Lineage Engine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24402" y="2146250"/>
            <a:ext cx="476894" cy="65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Computes package relationships, levels, column mapping.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04963" y="1844873"/>
            <a:ext cx="31075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9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2109" dirty="0"/>
          </a:p>
        </p:txBody>
      </p:sp>
      <p:sp>
        <p:nvSpPr>
          <p:cNvPr id="27" name="Text 25"/>
          <p:cNvSpPr/>
          <p:nvPr/>
        </p:nvSpPr>
        <p:spPr>
          <a:xfrm>
            <a:off x="9162976" y="1643063"/>
            <a:ext cx="1428750" cy="823094"/>
          </a:xfrm>
          <a:prstGeom prst="roundRect">
            <a:avLst>
              <a:gd name="adj" fmla="val 16201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262988" y="1743075"/>
            <a:ext cx="91440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02"/>
              </a:lnSpc>
              <a:buNone/>
            </a:pPr>
            <a:r>
              <a:rPr lang="en-US" sz="800" b="1" spc="101" kern="0" dirty="0">
                <a:solidFill>
                  <a:srgbClr val="FFE6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9262988" y="1887736"/>
            <a:ext cx="91440" cy="231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 / Excel / Search Index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9262988" y="2146250"/>
            <a:ext cx="91440" cy="2198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C9C9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HTML, detail HTML, Excel, SQLite sidecar.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9877351" y="2494731"/>
            <a:ext cx="0" cy="157163"/>
          </a:xfrm>
          <a:prstGeom prst="line">
            <a:avLst/>
          </a:prstGeom>
          <a:noFill/>
          <a:ln w="14288">
            <a:solidFill>
              <a:srgbClr val="2E2E3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933259" y="2680469"/>
            <a:ext cx="1888294" cy="335756"/>
          </a:xfrm>
          <a:prstGeom prst="roundRect">
            <a:avLst>
              <a:gd name="adj" fmla="val 2834045"/>
            </a:avLst>
          </a:prstGeom>
          <a:solidFill>
            <a:srgbClr val="FFE600"/>
          </a:solidFill>
          <a:ln/>
          <a:effectLst>
            <a:outerShdw sx="100000" sy="100000" kx="0" ky="0" algn="bl" rotWithShape="0" blurRad="19050" dist="9525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0028486" y="2744763"/>
            <a:ext cx="91440" cy="203597"/>
          </a:xfrm>
          <a:prstGeom prst="rect">
            <a:avLst/>
          </a:prstGeom>
          <a:noFill/>
          <a:ln/>
        </p:spPr>
        <p:txBody>
          <a:bodyPr wrap="none" lIns="114300" tIns="50006" rIns="114300" bIns="50006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DISTRIBUTION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047559" y="2778696"/>
            <a:ext cx="964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914" dirty="0"/>
          </a:p>
        </p:txBody>
      </p:sp>
      <p:sp>
        <p:nvSpPr>
          <p:cNvPr id="35" name="Text 33"/>
          <p:cNvSpPr/>
          <p:nvPr/>
        </p:nvSpPr>
        <p:spPr>
          <a:xfrm>
            <a:off x="428625" y="3429000"/>
            <a:ext cx="863600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0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ARCHITECTURAL PRINCIPLES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8625" y="3618309"/>
            <a:ext cx="8286750" cy="557213"/>
          </a:xfrm>
          <a:prstGeom prst="roundRect">
            <a:avLst>
              <a:gd name="adj" fmla="val 683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8650" y="3754041"/>
            <a:ext cx="285750" cy="2857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7582" y="378297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9" name="Text 37"/>
          <p:cNvSpPr/>
          <p:nvPr/>
        </p:nvSpPr>
        <p:spPr>
          <a:xfrm>
            <a:off x="1000125" y="3774021"/>
            <a:ext cx="1520932" cy="98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analysis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00125" y="3899706"/>
            <a:ext cx="1535417" cy="14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SSIS execution, no client DB calls.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19376" y="3746897"/>
            <a:ext cx="7144" cy="300038"/>
          </a:xfrm>
          <a:prstGeom prst="rect">
            <a:avLst/>
          </a:prstGeom>
          <a:solidFill>
            <a:srgbClr val="D9D9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26532" y="3754041"/>
            <a:ext cx="285750" cy="2857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355464" y="378297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44" name="Text 42"/>
          <p:cNvSpPr/>
          <p:nvPr/>
        </p:nvSpPr>
        <p:spPr>
          <a:xfrm>
            <a:off x="3698007" y="3774021"/>
            <a:ext cx="1267907" cy="98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Additive modules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698007" y="3899706"/>
            <a:ext cx="1168378" cy="14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capability is pluggable.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17369" y="3746897"/>
            <a:ext cx="7144" cy="300038"/>
          </a:xfrm>
          <a:prstGeom prst="rect">
            <a:avLst/>
          </a:prstGeom>
          <a:solidFill>
            <a:srgbClr val="D9D9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024525" y="3754041"/>
            <a:ext cx="285750" cy="285750"/>
          </a:xfrm>
          <a:prstGeom prst="ellipse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053457" y="378297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547" dirty="0"/>
          </a:p>
        </p:txBody>
      </p:sp>
      <p:sp>
        <p:nvSpPr>
          <p:cNvPr id="49" name="Text 47"/>
          <p:cNvSpPr/>
          <p:nvPr/>
        </p:nvSpPr>
        <p:spPr>
          <a:xfrm>
            <a:off x="6396000" y="3774021"/>
            <a:ext cx="1429469" cy="98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Evidence-grade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396000" y="3899706"/>
            <a:ext cx="1317258" cy="14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claim carries provenance.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DESKTOP EXPERIENCE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Data Engineering Teams, Not Only Developers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49337"/>
            <a:ext cx="3857625" cy="538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desktop application lets business-facing engineering teams run analysis without command-line knowledge — and supports packaged delivery through a licensed EXE.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771650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413" y="17934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800100" y="1800225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0100" y="1914525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Folder selection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100" y="2055949"/>
            <a:ext cx="46908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DTSX input folder and output destination.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2290576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413" y="231236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⫶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800100" y="2319151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0100" y="2433451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helper file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0100" y="2574875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Template-driven DB mapping only when package evidence is ambiguous.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8625" y="2809503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413" y="283129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800100" y="2838078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0100" y="2952378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Column-lineage option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" y="3093802"/>
            <a:ext cx="46908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 source-to-target column extraction.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8625" y="3328429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0413" y="335021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800100" y="3357004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0100" y="3471304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log console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0100" y="3612728"/>
            <a:ext cx="46908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run status and progress visibility.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8625" y="3847356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0413" y="386914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800100" y="3875931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0100" y="3990231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 activation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0100" y="4131655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In-app activation workflow for distributed delivery.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36394" y="1778794"/>
            <a:ext cx="3271838" cy="2700338"/>
          </a:xfrm>
          <a:prstGeom prst="roundRect">
            <a:avLst>
              <a:gd name="adj" fmla="val 1411"/>
            </a:avLst>
          </a:prstGeom>
          <a:solidFill>
            <a:srgbClr val="F6F6FA"/>
          </a:solidFill>
          <a:ln w="14288">
            <a:solidFill>
              <a:srgbClr val="2E2E3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91932" y="2361791"/>
            <a:ext cx="2160761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dirty="0">
                <a:solidFill>
                  <a:srgbClr val="CFCFD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4500" dirty="0"/>
          </a:p>
        </p:txBody>
      </p:sp>
      <p:sp>
        <p:nvSpPr>
          <p:cNvPr id="34" name="Text 32"/>
          <p:cNvSpPr/>
          <p:nvPr/>
        </p:nvSpPr>
        <p:spPr>
          <a:xfrm>
            <a:off x="5838118" y="3176178"/>
            <a:ext cx="2468277" cy="164592"/>
          </a:xfrm>
          <a:prstGeom prst="rect">
            <a:avLst/>
          </a:prstGeom>
          <a:noFill/>
          <a:ln/>
        </p:spPr>
        <p:txBody>
          <a:bodyPr wrap="square" lIns="214313" tIns="0" rIns="214313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7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DataFlow Sentinel Desktop Dashboard ]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929313" y="3369059"/>
            <a:ext cx="2286000" cy="318040"/>
          </a:xfrm>
          <a:prstGeom prst="rect">
            <a:avLst/>
          </a:prstGeom>
          <a:noFill/>
          <a:ln/>
        </p:spPr>
        <p:txBody>
          <a:bodyPr wrap="square" lIns="214313" tIns="0" rIns="214313" bIns="0" rtlCol="0" anchor="t"/>
          <a:lstStyle/>
          <a:p>
            <a:pPr algn="ctr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 of EXE dashboard with run controls and log console.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269779" y="3721970"/>
            <a:ext cx="829858" cy="184023"/>
          </a:xfrm>
          <a:prstGeom prst="roundRect">
            <a:avLst>
              <a:gd name="adj" fmla="val 5170807"/>
            </a:avLst>
          </a:prstGeom>
          <a:solidFill>
            <a:srgbClr val="FFFFFF"/>
          </a:solidFill>
          <a:ln w="7144">
            <a:solidFill>
              <a:srgbClr val="D9D9D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92639" y="3731828"/>
            <a:ext cx="784138" cy="164306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CONTROLS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096780" y="3721970"/>
            <a:ext cx="777954" cy="184023"/>
          </a:xfrm>
          <a:prstGeom prst="roundRect">
            <a:avLst>
              <a:gd name="adj" fmla="val 5170807"/>
            </a:avLst>
          </a:prstGeom>
          <a:solidFill>
            <a:srgbClr val="FFFFFF"/>
          </a:solidFill>
          <a:ln w="7144">
            <a:solidFill>
              <a:srgbClr val="D9D9D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119640" y="3731828"/>
            <a:ext cx="732234" cy="164306"/>
          </a:xfrm>
          <a:prstGeom prst="rect">
            <a:avLst/>
          </a:prstGeom>
          <a:noFill/>
          <a:ln/>
        </p:spPr>
        <p:txBody>
          <a:bodyPr wrap="none" lIns="71438" tIns="21431" rIns="71438" bIns="21431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34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 CONSOLE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Estate-Level Visibility in One Report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49337"/>
            <a:ext cx="385762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master report is the executive and team navigation layer — a single entry point into the estate, moving from summary to package detail in one click.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771650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413" y="179343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9" name="Text 7"/>
          <p:cNvSpPr/>
          <p:nvPr/>
        </p:nvSpPr>
        <p:spPr>
          <a:xfrm>
            <a:off x="800100" y="1800225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0100" y="1914525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inventory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00100" y="2055949"/>
            <a:ext cx="46908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estate list with complexity indicators.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8625" y="2290576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413" y="2312365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800100" y="2319151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0100" y="2433451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indicators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0100" y="2574875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Per-package complexity score and dependency level.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28625" y="2809503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50413" y="2831291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9" name="Text 17"/>
          <p:cNvSpPr/>
          <p:nvPr/>
        </p:nvSpPr>
        <p:spPr>
          <a:xfrm>
            <a:off x="800100" y="2838078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00100" y="2952378"/>
            <a:ext cx="5090465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resolved 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0100" y="3093802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showing resolution coverage across the estate.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8625" y="3328429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0413" y="335021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⌕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800100" y="3357004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00100" y="3471304"/>
            <a:ext cx="5090465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grid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0100" y="3612728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and export across packages, tables, columns.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8625" y="3847356"/>
            <a:ext cx="271463" cy="271463"/>
          </a:xfrm>
          <a:prstGeom prst="roundRect">
            <a:avLst>
              <a:gd name="adj" fmla="val 7018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50413" y="386914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800100" y="3875931"/>
            <a:ext cx="6949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0100" y="3990231"/>
            <a:ext cx="4560570" cy="113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graph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0100" y="4131655"/>
            <a:ext cx="434340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package dependency view with drill-through.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436394" y="1778794"/>
            <a:ext cx="3271838" cy="2700338"/>
          </a:xfrm>
          <a:prstGeom prst="roundRect">
            <a:avLst>
              <a:gd name="adj" fmla="val 1411"/>
            </a:avLst>
          </a:prstGeom>
          <a:solidFill>
            <a:srgbClr val="F6F6FA"/>
          </a:solidFill>
          <a:ln w="14288">
            <a:solidFill>
              <a:srgbClr val="2E2E3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443538" y="1785938"/>
            <a:ext cx="3257550" cy="228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5443538" y="2010966"/>
            <a:ext cx="32575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3550" y="1868091"/>
            <a:ext cx="57150" cy="57150"/>
          </a:xfrm>
          <a:prstGeom prst="ellipse">
            <a:avLst/>
          </a:prstGeom>
          <a:solidFill>
            <a:srgbClr val="D9D9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636419" y="1868091"/>
            <a:ext cx="57150" cy="57150"/>
          </a:xfrm>
          <a:prstGeom prst="ellipse">
            <a:avLst/>
          </a:prstGeom>
          <a:solidFill>
            <a:srgbClr val="D9D9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29288" y="1868091"/>
            <a:ext cx="57150" cy="57150"/>
          </a:xfrm>
          <a:prstGeom prst="ellipse">
            <a:avLst/>
          </a:prstGeom>
          <a:solidFill>
            <a:srgbClr val="D9D9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750844" y="1843088"/>
            <a:ext cx="185023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master_report.html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506403" y="2073173"/>
            <a:ext cx="785098" cy="297066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93556" y="2145804"/>
            <a:ext cx="610791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800" spc="34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93556" y="2240459"/>
            <a:ext cx="366452" cy="5715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288643" y="2073173"/>
            <a:ext cx="785098" cy="297066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375797" y="2145804"/>
            <a:ext cx="610791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800" spc="34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%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75797" y="2240459"/>
            <a:ext cx="488566" cy="5715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070884" y="2073173"/>
            <a:ext cx="785098" cy="297066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58038" y="2145804"/>
            <a:ext cx="610791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800" spc="34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58038" y="2240459"/>
            <a:ext cx="427509" cy="5715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853124" y="2073173"/>
            <a:ext cx="785098" cy="297066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940278" y="2145804"/>
            <a:ext cx="610791" cy="161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33"/>
              </a:lnSpc>
              <a:buNone/>
            </a:pPr>
            <a:r>
              <a:rPr lang="en-US" sz="800" spc="34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940278" y="2240459"/>
            <a:ext cx="335868" cy="57150"/>
          </a:xfrm>
          <a:prstGeom prst="roundRect">
            <a:avLst>
              <a:gd name="adj" fmla="val 1666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532834" y="2446734"/>
            <a:ext cx="1571960" cy="1518828"/>
          </a:xfrm>
          <a:prstGeom prst="roundRect">
            <a:avLst>
              <a:gd name="adj" fmla="val 1254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607844" y="2507456"/>
            <a:ext cx="142194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b="1" spc="56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SUMMARY GRID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607844" y="2650331"/>
            <a:ext cx="1421941" cy="35719"/>
          </a:xfrm>
          <a:prstGeom prst="roundRect">
            <a:avLst>
              <a:gd name="adj" fmla="val 26666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607844" y="2714625"/>
            <a:ext cx="1279736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607844" y="2778919"/>
            <a:ext cx="1208633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607844" y="2843213"/>
            <a:ext cx="1350838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607844" y="2907506"/>
            <a:ext cx="1109067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607844" y="2971800"/>
            <a:ext cx="1251272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07844" y="3036094"/>
            <a:ext cx="1308088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5607844" y="3100388"/>
            <a:ext cx="995325" cy="35719"/>
          </a:xfrm>
          <a:prstGeom prst="roundRect">
            <a:avLst>
              <a:gd name="adj" fmla="val 26666"/>
            </a:avLst>
          </a:prstGeom>
          <a:solidFill>
            <a:srgbClr val="E8E8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169088" y="2446734"/>
            <a:ext cx="1442703" cy="1518828"/>
          </a:xfrm>
          <a:prstGeom prst="roundRect">
            <a:avLst>
              <a:gd name="adj" fmla="val 1320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244097" y="2507456"/>
            <a:ext cx="12926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b="1" spc="56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DEPENDENCY GRAPH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794166" y="2700338"/>
            <a:ext cx="57150" cy="57150"/>
          </a:xfrm>
          <a:prstGeom prst="ellipse">
            <a:avLst/>
          </a:prstGeom>
          <a:solidFill>
            <a:srgbClr val="2E2E38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7432179" y="2871788"/>
            <a:ext cx="57150" cy="57150"/>
          </a:xfrm>
          <a:prstGeom prst="ellipse">
            <a:avLst/>
          </a:prstGeom>
          <a:solidFill>
            <a:srgbClr val="CFCFD6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8156042" y="2871788"/>
            <a:ext cx="57150" cy="57150"/>
          </a:xfrm>
          <a:prstGeom prst="ellipse">
            <a:avLst/>
          </a:prstGeom>
          <a:solidFill>
            <a:srgbClr val="CFCFD6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7639013" y="3043238"/>
            <a:ext cx="57150" cy="57150"/>
          </a:xfrm>
          <a:prstGeom prst="ellipse">
            <a:avLst/>
          </a:prstGeom>
          <a:solidFill>
            <a:srgbClr val="CFCFD6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8052681" y="3043238"/>
            <a:ext cx="57150" cy="57150"/>
          </a:xfrm>
          <a:prstGeom prst="ellipse">
            <a:avLst/>
          </a:prstGeom>
          <a:solidFill>
            <a:srgbClr val="CFCFD6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871631" y="3186113"/>
            <a:ext cx="57150" cy="57150"/>
          </a:xfrm>
          <a:prstGeom prst="ellipse">
            <a:avLst/>
          </a:prstGeom>
          <a:solidFill>
            <a:srgbClr val="CFCFD6"/>
          </a:solidFill>
          <a:ln w="14288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7476716" y="2732484"/>
            <a:ext cx="315998" cy="221264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864488" y="2731332"/>
            <a:ext cx="315998" cy="-221264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476716" y="2903934"/>
            <a:ext cx="180590" cy="151533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64488" y="2903934"/>
            <a:ext cx="234073" cy="163899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48898" y="2903934"/>
            <a:ext cx="89297" cy="154667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696498" y="3076947"/>
            <a:ext cx="204160" cy="-117872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045537" y="3077778"/>
            <a:ext cx="151533" cy="-180590"/>
          </a:xfrm>
          <a:prstGeom prst="line">
            <a:avLst/>
          </a:prstGeom>
          <a:noFill/>
          <a:ln w="7144">
            <a:solidFill>
              <a:srgbClr val="D2D2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43538" y="4040572"/>
            <a:ext cx="3257550" cy="43141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5443538" y="4044144"/>
            <a:ext cx="3257550" cy="0"/>
          </a:xfrm>
          <a:prstGeom prst="line">
            <a:avLst/>
          </a:prstGeom>
          <a:noFill/>
          <a:ln w="7144">
            <a:solidFill>
              <a:srgbClr val="2E2E38"/>
            </a:solidFill>
            <a:prstDash val="dash"/>
          </a:ln>
        </p:spPr>
      </p:sp>
      <p:sp>
        <p:nvSpPr>
          <p:cNvPr id="78" name="Text 76"/>
          <p:cNvSpPr/>
          <p:nvPr/>
        </p:nvSpPr>
        <p:spPr>
          <a:xfrm>
            <a:off x="5543550" y="4119153"/>
            <a:ext cx="3057525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spc="17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master_report.html ]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43550" y="4290603"/>
            <a:ext cx="305752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Insert screenshot of package summary grid + dependency graph.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15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8472376" y="1828800"/>
            <a:ext cx="228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5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DETAIL REPORT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 Dive: From Package Overview to Data Flow Paths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49337"/>
            <a:ext cx="7000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Per-package reports let reviewers move from package overview → connection context → SQL and data-flow tasks → source-target lineage → interactive data-flow journey.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564356" y="1757363"/>
            <a:ext cx="14288" cy="1851347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50056" y="1657350"/>
            <a:ext cx="257175" cy="257175"/>
          </a:xfrm>
          <a:prstGeom prst="ellipse">
            <a:avLst/>
          </a:prstGeom>
          <a:solidFill>
            <a:srgbClr val="FFE60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FE6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5769" y="1643063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1181733" y="1704454"/>
            <a:ext cx="820973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</a:t>
            </a:r>
            <a:endParaRPr lang="en-US" sz="844" dirty="0"/>
          </a:p>
        </p:txBody>
      </p:sp>
      <p:sp>
        <p:nvSpPr>
          <p:cNvPr id="11" name="Text 9"/>
          <p:cNvSpPr/>
          <p:nvPr/>
        </p:nvSpPr>
        <p:spPr>
          <a:xfrm>
            <a:off x="828675" y="1700213"/>
            <a:ext cx="29590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28675" y="1858714"/>
            <a:ext cx="415766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database context per connection manager.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0056" y="2093342"/>
            <a:ext cx="257175" cy="257175"/>
          </a:xfrm>
          <a:prstGeom prst="ellipse">
            <a:avLst/>
          </a:prstGeom>
          <a:solidFill>
            <a:srgbClr val="FFE60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FE6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5769" y="2079054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1155502" y="2140446"/>
            <a:ext cx="755952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tasks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828675" y="2136204"/>
            <a:ext cx="26967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28675" y="2294706"/>
            <a:ext cx="415766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SQL Task text, source/target extraction.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0056" y="2529334"/>
            <a:ext cx="257175" cy="257175"/>
          </a:xfrm>
          <a:prstGeom prst="ellipse">
            <a:avLst/>
          </a:prstGeom>
          <a:solidFill>
            <a:srgbClr val="FFE60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FE6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35769" y="2515046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1605893" y="2576438"/>
            <a:ext cx="988684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flow tasks</a:t>
            </a:r>
            <a:endParaRPr lang="en-US" sz="844" dirty="0"/>
          </a:p>
        </p:txBody>
      </p:sp>
      <p:sp>
        <p:nvSpPr>
          <p:cNvPr id="21" name="Text 19"/>
          <p:cNvSpPr/>
          <p:nvPr/>
        </p:nvSpPr>
        <p:spPr>
          <a:xfrm>
            <a:off x="828675" y="2572196"/>
            <a:ext cx="720068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28675" y="2730698"/>
            <a:ext cx="449027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components, paths, transformations.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0056" y="2965326"/>
            <a:ext cx="257175" cy="257175"/>
          </a:xfrm>
          <a:prstGeom prst="ellipse">
            <a:avLst/>
          </a:prstGeom>
          <a:solidFill>
            <a:srgbClr val="FFE60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FE6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5769" y="2951038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25" name="Text 23"/>
          <p:cNvSpPr/>
          <p:nvPr/>
        </p:nvSpPr>
        <p:spPr>
          <a:xfrm>
            <a:off x="1515480" y="3012430"/>
            <a:ext cx="1441447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&amp; target tables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828675" y="3008188"/>
            <a:ext cx="62965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828675" y="3166690"/>
            <a:ext cx="4157663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source, target, and temp-table lineage.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056" y="3401318"/>
            <a:ext cx="257175" cy="257175"/>
          </a:xfrm>
          <a:prstGeom prst="ellipse">
            <a:avLst/>
          </a:prstGeom>
          <a:solidFill>
            <a:srgbClr val="FFE600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FFE600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5769" y="3387030"/>
            <a:ext cx="3429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1323491" y="3448422"/>
            <a:ext cx="1591511" cy="1268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data-flow journey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828675" y="3444180"/>
            <a:ext cx="437666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125" dirty="0"/>
          </a:p>
        </p:txBody>
      </p:sp>
      <p:sp>
        <p:nvSpPr>
          <p:cNvPr id="32" name="Text 30"/>
          <p:cNvSpPr/>
          <p:nvPr/>
        </p:nvSpPr>
        <p:spPr>
          <a:xfrm>
            <a:off x="828675" y="3602682"/>
            <a:ext cx="4490276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SSIS-designer-style node-level path view.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50656" y="1635919"/>
            <a:ext cx="3457575" cy="1200150"/>
          </a:xfrm>
          <a:prstGeom prst="roundRect">
            <a:avLst>
              <a:gd name="adj" fmla="val 3175"/>
            </a:avLst>
          </a:prstGeom>
          <a:solidFill>
            <a:srgbClr val="F6F6FA"/>
          </a:solidFill>
          <a:ln w="14288">
            <a:solidFill>
              <a:srgbClr val="2E2E3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00118" y="1914525"/>
            <a:ext cx="75589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FCFD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969" dirty="0"/>
          </a:p>
        </p:txBody>
      </p:sp>
      <p:sp>
        <p:nvSpPr>
          <p:cNvPr id="35" name="Text 33"/>
          <p:cNvSpPr/>
          <p:nvPr/>
        </p:nvSpPr>
        <p:spPr>
          <a:xfrm>
            <a:off x="7106205" y="1986534"/>
            <a:ext cx="573701" cy="156020"/>
          </a:xfrm>
          <a:prstGeom prst="roundRect">
            <a:avLst>
              <a:gd name="adj" fmla="val 6098882"/>
            </a:avLst>
          </a:prstGeom>
          <a:solidFill>
            <a:srgbClr val="FFFFFF"/>
          </a:solidFill>
          <a:ln w="7144">
            <a:solidFill>
              <a:srgbClr val="D9D9D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27453" y="1994892"/>
            <a:ext cx="531205" cy="13930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6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56152" y="2271713"/>
            <a:ext cx="1346191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Package Detail Overview ]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27775" y="2439591"/>
            <a:ext cx="183960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Connections, SQL tasks, source/target summary.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50656" y="2950369"/>
            <a:ext cx="3457575" cy="1200150"/>
          </a:xfrm>
          <a:prstGeom prst="roundRect">
            <a:avLst>
              <a:gd name="adj" fmla="val 3175"/>
            </a:avLst>
          </a:prstGeom>
          <a:solidFill>
            <a:srgbClr val="F6F6FA"/>
          </a:solidFill>
          <a:ln w="14288">
            <a:solidFill>
              <a:srgbClr val="2E2E3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348785" y="3228975"/>
            <a:ext cx="70042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CFCFD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41" name="Text 39"/>
          <p:cNvSpPr/>
          <p:nvPr/>
        </p:nvSpPr>
        <p:spPr>
          <a:xfrm>
            <a:off x="7101066" y="3300984"/>
            <a:ext cx="528615" cy="156020"/>
          </a:xfrm>
          <a:prstGeom prst="roundRect">
            <a:avLst>
              <a:gd name="adj" fmla="val 6098882"/>
            </a:avLst>
          </a:prstGeom>
          <a:solidFill>
            <a:srgbClr val="FFFFFF"/>
          </a:solidFill>
          <a:ln w="7144">
            <a:solidFill>
              <a:srgbClr val="D9D9D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20644" y="3309342"/>
            <a:ext cx="489458" cy="139303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56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228011" y="3586163"/>
            <a:ext cx="1623096" cy="140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Data Flow Tasks Journey View ]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206244" y="3754041"/>
            <a:ext cx="1639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Node-level path view in SSIS-designer style.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04638" y="4286250"/>
            <a:ext cx="3749612" cy="194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i="1" spc="11" kern="0" dirty="0">
                <a:solidFill>
                  <a:srgbClr val="7474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pPr algn="ctr" indent="0" marL="0">
              <a:lnSpc>
                <a:spcPts val="928"/>
              </a:lnSpc>
              <a:buNone/>
            </a:pPr>
            <a:r>
              <a:rPr lang="en-US" sz="800" i="1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options: PNG · PDF · JSON · CSV · Excel.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85763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 LINEAGE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582216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from Table Lineage to Column Evidence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949337"/>
            <a:ext cx="7000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enhancements broaden the analysis from tables to columns — a strong differentiator for audit and migration, where design and reconciliation require column-level evidence.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557338"/>
            <a:ext cx="4093369" cy="785813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8625" y="1568053"/>
            <a:ext cx="4093369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213" y="1774775"/>
            <a:ext cx="200025" cy="2000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9178" y="178674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195" dirty="0"/>
          </a:p>
        </p:txBody>
      </p:sp>
      <p:sp>
        <p:nvSpPr>
          <p:cNvPr id="11" name="Text 9"/>
          <p:cNvSpPr/>
          <p:nvPr/>
        </p:nvSpPr>
        <p:spPr>
          <a:xfrm>
            <a:off x="828675" y="1814736"/>
            <a:ext cx="356473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Source-to-target column mapping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7213" y="2017663"/>
            <a:ext cx="3945922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value-flow lineage across INSERT paths.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2006" y="1557338"/>
            <a:ext cx="4093369" cy="785813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22006" y="1568053"/>
            <a:ext cx="4093369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0594" y="1774775"/>
            <a:ext cx="200025" cy="2000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62560" y="1786741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lang="en-US" sz="1195" dirty="0"/>
          </a:p>
        </p:txBody>
      </p:sp>
      <p:sp>
        <p:nvSpPr>
          <p:cNvPr id="17" name="Text 15"/>
          <p:cNvSpPr/>
          <p:nvPr/>
        </p:nvSpPr>
        <p:spPr>
          <a:xfrm>
            <a:off x="5022056" y="1814736"/>
            <a:ext cx="356473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/ MERGE / INSERT support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50594" y="2017663"/>
            <a:ext cx="38361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write targets extracted, not just SELECT sources.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8625" y="2443163"/>
            <a:ext cx="4093369" cy="785813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28625" y="2453878"/>
            <a:ext cx="4093369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213" y="2660600"/>
            <a:ext cx="200025" cy="2000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9178" y="2672566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195" dirty="0"/>
          </a:p>
        </p:txBody>
      </p:sp>
      <p:sp>
        <p:nvSpPr>
          <p:cNvPr id="23" name="Text 21"/>
          <p:cNvSpPr/>
          <p:nvPr/>
        </p:nvSpPr>
        <p:spPr>
          <a:xfrm>
            <a:off x="828675" y="2700561"/>
            <a:ext cx="356473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Predicate dependencies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213" y="2903488"/>
            <a:ext cx="38361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JOIN/WHERE predicates labelled separately from value mappings.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622006" y="2443163"/>
            <a:ext cx="4093369" cy="785813"/>
          </a:xfrm>
          <a:prstGeom prst="roundRect">
            <a:avLst>
              <a:gd name="adj" fmla="val 2424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622006" y="2453878"/>
            <a:ext cx="4093369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0594" y="2660600"/>
            <a:ext cx="200025" cy="200025"/>
          </a:xfrm>
          <a:prstGeom prst="ellipse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62560" y="2672566"/>
            <a:ext cx="176093" cy="1760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#</a:t>
            </a:r>
            <a:endParaRPr lang="en-US" sz="1195" dirty="0"/>
          </a:p>
        </p:txBody>
      </p:sp>
      <p:sp>
        <p:nvSpPr>
          <p:cNvPr id="29" name="Text 27"/>
          <p:cNvSpPr/>
          <p:nvPr/>
        </p:nvSpPr>
        <p:spPr>
          <a:xfrm>
            <a:off x="5022056" y="2700561"/>
            <a:ext cx="3564731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spc="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coverage status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0594" y="2903488"/>
            <a:ext cx="3836194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Resolved, literal, system, unresolved, and no-source columns flagged.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32197" y="3418284"/>
            <a:ext cx="4964906" cy="1050578"/>
          </a:xfrm>
          <a:prstGeom prst="roundRect">
            <a:avLst>
              <a:gd name="adj" fmla="val 3627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4356" y="3521869"/>
            <a:ext cx="29238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90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COVERAGE STATUS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502447" y="3527227"/>
            <a:ext cx="186824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sample package · 100% of columns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4356" y="3711178"/>
            <a:ext cx="2726234" cy="2714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290590" y="3711178"/>
            <a:ext cx="658006" cy="271463"/>
          </a:xfrm>
          <a:prstGeom prst="rect">
            <a:avLst/>
          </a:prstGeom>
          <a:solidFill>
            <a:srgbClr val="2DB75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948596" y="3711178"/>
            <a:ext cx="375940" cy="271463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24536" y="3711178"/>
            <a:ext cx="564021" cy="271463"/>
          </a:xfrm>
          <a:prstGeom prst="rect">
            <a:avLst/>
          </a:prstGeom>
          <a:solidFill>
            <a:srgbClr val="F5A4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88557" y="3711178"/>
            <a:ext cx="375940" cy="271463"/>
          </a:xfrm>
          <a:prstGeom prst="rect">
            <a:avLst/>
          </a:prstGeom>
          <a:solidFill>
            <a:srgbClr val="74748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64356" y="4054078"/>
            <a:ext cx="3623390" cy="12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8"/>
              </a:lnSpc>
              <a:buNone/>
            </a:pPr>
            <a:r>
              <a:rPr lang="en-US" sz="800" b="1" spc="5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64356" y="4142929"/>
            <a:ext cx="4293394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58%</a:t>
            </a:r>
            <a:endParaRPr lang="en-US" sz="956" dirty="0"/>
          </a:p>
        </p:txBody>
      </p:sp>
      <p:sp>
        <p:nvSpPr>
          <p:cNvPr id="41" name="Text 39"/>
          <p:cNvSpPr/>
          <p:nvPr/>
        </p:nvSpPr>
        <p:spPr>
          <a:xfrm>
            <a:off x="3290590" y="4054078"/>
            <a:ext cx="830636" cy="12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8"/>
              </a:lnSpc>
              <a:buNone/>
            </a:pPr>
            <a:r>
              <a:rPr lang="en-US" sz="800" b="1" spc="56" kern="0" dirty="0">
                <a:solidFill>
                  <a:srgbClr val="2DB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LITERAL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90590" y="4142929"/>
            <a:ext cx="984230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2DB7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14%</a:t>
            </a:r>
            <a:endParaRPr lang="en-US" sz="956" dirty="0"/>
          </a:p>
        </p:txBody>
      </p:sp>
      <p:sp>
        <p:nvSpPr>
          <p:cNvPr id="43" name="Text 41"/>
          <p:cNvSpPr/>
          <p:nvPr/>
        </p:nvSpPr>
        <p:spPr>
          <a:xfrm>
            <a:off x="3948596" y="4054078"/>
            <a:ext cx="449759" cy="120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8"/>
              </a:lnSpc>
              <a:buNone/>
            </a:pPr>
            <a:r>
              <a:rPr lang="en-US" sz="800" b="1" spc="56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948596" y="4142929"/>
            <a:ext cx="532924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8%</a:t>
            </a:r>
            <a:endParaRPr lang="en-US" sz="956" dirty="0"/>
          </a:p>
        </p:txBody>
      </p:sp>
      <p:sp>
        <p:nvSpPr>
          <p:cNvPr id="45" name="Text 43"/>
          <p:cNvSpPr/>
          <p:nvPr/>
        </p:nvSpPr>
        <p:spPr>
          <a:xfrm>
            <a:off x="4324536" y="4054078"/>
            <a:ext cx="647442" cy="120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88"/>
              </a:lnSpc>
              <a:buNone/>
            </a:pPr>
            <a:r>
              <a:rPr lang="en-US" sz="800" b="1" spc="56" kern="0" dirty="0">
                <a:solidFill>
                  <a:srgbClr val="F5A4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324536" y="4142929"/>
            <a:ext cx="833854" cy="144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F5A4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12%</a:t>
            </a:r>
            <a:endParaRPr lang="en-US" sz="956" dirty="0"/>
          </a:p>
        </p:txBody>
      </p:sp>
      <p:sp>
        <p:nvSpPr>
          <p:cNvPr id="47" name="Text 45"/>
          <p:cNvSpPr/>
          <p:nvPr/>
        </p:nvSpPr>
        <p:spPr>
          <a:xfrm>
            <a:off x="4888557" y="4054078"/>
            <a:ext cx="333077" cy="13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"/>
              </a:lnSpc>
              <a:buNone/>
            </a:pPr>
            <a:r>
              <a:rPr lang="en-US" sz="800" b="1" spc="56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SOURCE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88557" y="4217491"/>
            <a:ext cx="376386" cy="133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2"/>
              </a:lnSpc>
              <a:buNone/>
            </a:pPr>
            <a:r>
              <a:rPr lang="en-US" sz="956" b="1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8%</a:t>
            </a:r>
            <a:endParaRPr lang="en-US" sz="956" dirty="0"/>
          </a:p>
        </p:txBody>
      </p:sp>
      <p:sp>
        <p:nvSpPr>
          <p:cNvPr id="49" name="Text 47"/>
          <p:cNvSpPr/>
          <p:nvPr/>
        </p:nvSpPr>
        <p:spPr>
          <a:xfrm>
            <a:off x="5543550" y="3414713"/>
            <a:ext cx="3171825" cy="1057721"/>
          </a:xfrm>
          <a:prstGeom prst="roundRect">
            <a:avLst>
              <a:gd name="adj" fmla="val 1801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5564981" y="3414713"/>
            <a:ext cx="0" cy="1057721"/>
          </a:xfrm>
          <a:prstGeom prst="line">
            <a:avLst/>
          </a:prstGeom>
          <a:noFill/>
          <a:ln w="42863">
            <a:solidFill>
              <a:srgbClr val="FFE6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3608598"/>
            <a:ext cx="287178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POINT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820719" y="3765761"/>
            <a:ext cx="950900" cy="200025"/>
          </a:xfrm>
          <a:prstGeom prst="roundRect">
            <a:avLst>
              <a:gd name="adj" fmla="val 66667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715000" y="3744330"/>
            <a:ext cx="1499453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217 → 275</a:t>
            </a:r>
            <a:endParaRPr lang="en-US" sz="1688" dirty="0"/>
          </a:p>
        </p:txBody>
      </p:sp>
      <p:sp>
        <p:nvSpPr>
          <p:cNvPr id="54" name="Text 52"/>
          <p:cNvSpPr/>
          <p:nvPr/>
        </p:nvSpPr>
        <p:spPr>
          <a:xfrm>
            <a:off x="6820719" y="3765761"/>
            <a:ext cx="9509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55" name="Text 53"/>
          <p:cNvSpPr/>
          <p:nvPr/>
        </p:nvSpPr>
        <p:spPr>
          <a:xfrm>
            <a:off x="5715000" y="4030080"/>
            <a:ext cx="287178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package raw lineage records increased — previously missed final targets now visible.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00038"/>
            <a:ext cx="863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PACKAGE-FIRST DB RESOLUTION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496491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Package-First Resolution Reduces Helper-File Dependency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863612"/>
            <a:ext cx="6858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resolver follows a trust hierarchy — package evidence first, cross-package consensus next, helper file as fallback only, unresolved when ambiguous. The tool does not guess.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953816"/>
            <a:ext cx="5137696" cy="500063"/>
          </a:xfrm>
          <a:prstGeom prst="roundRect">
            <a:avLst>
              <a:gd name="adj" fmla="val 7619"/>
            </a:avLst>
          </a:prstGeom>
          <a:solidFill>
            <a:srgbClr val="FFE600"/>
          </a:solidFill>
          <a:ln/>
          <a:effectLst>
            <a:outerShdw sx="100000" sy="100000" kx="0" ky="0" algn="bl" rotWithShape="0" blurRad="114300" dist="38100" dir="5400000">
              <a:srgbClr val="FFE600">
                <a:alpha val="3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5788" y="2118122"/>
            <a:ext cx="4343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838" y="2142232"/>
            <a:ext cx="1959151" cy="13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4" b="1" spc="-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package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2980283" y="2078831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DB in package SQL; connection DB; table evidence; schema majority.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28625" y="2603897"/>
            <a:ext cx="5137696" cy="500063"/>
          </a:xfrm>
          <a:prstGeom prst="roundRect">
            <a:avLst>
              <a:gd name="adj" fmla="val 7619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788" y="2768203"/>
            <a:ext cx="4343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85838" y="2792313"/>
            <a:ext cx="1959151" cy="13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4" b="1" spc="-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Cross-package evidence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2980283" y="2728913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Table consensus and schema consensus across the parsed corpus.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8625" y="3253978"/>
            <a:ext cx="5137696" cy="500063"/>
          </a:xfrm>
          <a:prstGeom prst="roundRect">
            <a:avLst>
              <a:gd name="adj" fmla="val 7619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5788" y="3418284"/>
            <a:ext cx="4343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85838" y="3442395"/>
            <a:ext cx="2186786" cy="13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4" b="1" spc="-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Helper file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2980283" y="3378994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mapping fallback; schema-level fallback only when no other evidence.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2197" y="3907631"/>
            <a:ext cx="5130552" cy="492919"/>
          </a:xfrm>
          <a:prstGeom prst="roundRect">
            <a:avLst>
              <a:gd name="adj" fmla="val 7729"/>
            </a:avLst>
          </a:prstGeom>
          <a:solidFill>
            <a:srgbClr val="FFFFFF"/>
          </a:solidFill>
          <a:ln w="7144">
            <a:solidFill>
              <a:srgbClr val="2E2E38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2931" y="4068366"/>
            <a:ext cx="43434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92981" y="4092476"/>
            <a:ext cx="2170041" cy="13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44" b="1" spc="-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Unresolved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2973139" y="4029075"/>
            <a:ext cx="2428875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when evidence is genuinely ambiguous — never guessed.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94921" y="1557338"/>
            <a:ext cx="2920454" cy="1428750"/>
          </a:xfrm>
          <a:prstGeom prst="roundRect">
            <a:avLst>
              <a:gd name="adj" fmla="val 2667"/>
            </a:avLst>
          </a:prstGeom>
          <a:solidFill>
            <a:srgbClr val="FFE600"/>
          </a:solidFill>
          <a:ln/>
          <a:effectLst>
            <a:outerShdw sx="100000" sy="100000" kx="0" ky="0" algn="bl" rotWithShape="0" blurRad="114300" dist="38100" dir="5400000">
              <a:srgbClr val="FFE6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952083" y="1846436"/>
            <a:ext cx="2606129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PROOF POINT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52083" y="2021458"/>
            <a:ext cx="2606129" cy="372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17"/>
              </a:lnSpc>
              <a:buNone/>
            </a:pPr>
            <a:r>
              <a:rPr lang="en-US" sz="258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119 / 119</a:t>
            </a:r>
            <a:endParaRPr lang="en-US" sz="2588" dirty="0"/>
          </a:p>
        </p:txBody>
      </p:sp>
      <p:sp>
        <p:nvSpPr>
          <p:cNvPr id="26" name="Text 24"/>
          <p:cNvSpPr/>
          <p:nvPr/>
        </p:nvSpPr>
        <p:spPr>
          <a:xfrm>
            <a:off x="5952083" y="2437916"/>
            <a:ext cx="2286000" cy="318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sample run — database resolutions were package-derived with no helper file.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4921" y="3086100"/>
            <a:ext cx="2920454" cy="1714500"/>
          </a:xfrm>
          <a:prstGeom prst="roundRect">
            <a:avLst>
              <a:gd name="adj" fmla="val 222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809208" y="3086100"/>
            <a:ext cx="0" cy="1714500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0658" y="3646884"/>
            <a:ext cx="2577554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80658" y="3821906"/>
            <a:ext cx="257755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Prioritizes package evidence; keeps helper mappings as a fallback only. Improves defensibility for audit and migration review.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00038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SCALE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496491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for Larger SSIS Estates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863612"/>
            <a:ext cx="6858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SQLite sidecar layer indexes packages, tables, columns, keywords, dependencies, and run metadata — keeping core HTML reporting intact while adding scalable lookup artifacts for enterprise search.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851222" y="1557338"/>
            <a:ext cx="1498625" cy="488007"/>
          </a:xfrm>
          <a:prstGeom prst="roundRect">
            <a:avLst>
              <a:gd name="adj" fmla="val 1949864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8385" y="1671638"/>
            <a:ext cx="1184300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Parsed Results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08385" y="1820205"/>
            <a:ext cx="1231672" cy="11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XML → lineage objects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349847" y="1708472"/>
            <a:ext cx="271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63" dirty="0"/>
          </a:p>
        </p:txBody>
      </p:sp>
      <p:sp>
        <p:nvSpPr>
          <p:cNvPr id="11" name="Text 9"/>
          <p:cNvSpPr/>
          <p:nvPr/>
        </p:nvSpPr>
        <p:spPr>
          <a:xfrm>
            <a:off x="2621310" y="1557338"/>
            <a:ext cx="1912627" cy="488007"/>
          </a:xfrm>
          <a:prstGeom prst="roundRect">
            <a:avLst>
              <a:gd name="adj" fmla="val 1949864"/>
            </a:avLst>
          </a:prstGeom>
          <a:solidFill>
            <a:srgbClr val="FFE600"/>
          </a:solidFill>
          <a:ln/>
          <a:effectLst>
            <a:outerShdw sx="100000" sy="100000" kx="0" ky="0" algn="bl" rotWithShape="0" blurRad="152400" dist="5715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778472" y="1671638"/>
            <a:ext cx="1598302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SQLite Index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778472" y="1820205"/>
            <a:ext cx="1662235" cy="11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2E2E38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Sidecar — packages, tables, columns, deps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33937" y="1708472"/>
            <a:ext cx="271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63" dirty="0"/>
          </a:p>
        </p:txBody>
      </p:sp>
      <p:sp>
        <p:nvSpPr>
          <p:cNvPr id="15" name="Text 13"/>
          <p:cNvSpPr/>
          <p:nvPr/>
        </p:nvSpPr>
        <p:spPr>
          <a:xfrm>
            <a:off x="4805400" y="1557338"/>
            <a:ext cx="1428750" cy="488007"/>
          </a:xfrm>
          <a:prstGeom prst="roundRect">
            <a:avLst>
              <a:gd name="adj" fmla="val 1949864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62562" y="1671638"/>
            <a:ext cx="1114425" cy="1211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search_api JSON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62562" y="1820205"/>
            <a:ext cx="1114425" cy="1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service endpoint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34150" y="1708472"/>
            <a:ext cx="27146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63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463" dirty="0"/>
          </a:p>
        </p:txBody>
      </p:sp>
      <p:sp>
        <p:nvSpPr>
          <p:cNvPr id="19" name="Text 17"/>
          <p:cNvSpPr/>
          <p:nvPr/>
        </p:nvSpPr>
        <p:spPr>
          <a:xfrm>
            <a:off x="6505612" y="1557338"/>
            <a:ext cx="1787165" cy="488007"/>
          </a:xfrm>
          <a:prstGeom prst="roundRect">
            <a:avLst>
              <a:gd name="adj" fmla="val 1949864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662775" y="1671638"/>
            <a:ext cx="1531754" cy="121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Search / Future Catalog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62775" y="1820205"/>
            <a:ext cx="1517026" cy="110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73"/>
              </a:lnSpc>
              <a:buNone/>
            </a:pP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lookup + impact analysis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8625" y="2145357"/>
            <a:ext cx="82867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data is no longer embedded in a single HTML payload.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2913" y="2771775"/>
            <a:ext cx="0" cy="150019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8625" y="2771775"/>
            <a:ext cx="4557713" cy="164592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INDEXED ENTITIES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8625" y="3021806"/>
            <a:ext cx="4557713" cy="911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tables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columns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hits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Dependencies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file metadata</a:t>
            </a:r>
            <a:endParaRPr lang="en-US" sz="800" dirty="0"/>
          </a:p>
          <a:p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600" dirty="0">
                <a:solidFill>
                  <a:srgbClr val="FFE6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</a:t>
            </a:r>
            <a:pPr algn="l" indent="0" marL="0">
              <a:lnSpc>
                <a:spcPts val="1139"/>
              </a:lnSpc>
              <a:spcAft>
                <a:spcPts val="563"/>
              </a:spcAft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metadata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257800" y="2771775"/>
            <a:ext cx="0" cy="150019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3513" y="2771775"/>
            <a:ext cx="3471863" cy="164592"/>
          </a:xfrm>
          <a:prstGeom prst="rect">
            <a:avLst/>
          </a:prstGeom>
          <a:noFill/>
          <a:ln/>
        </p:spPr>
        <p:txBody>
          <a:bodyPr wrap="none" lIns="71438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spc="79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43513" y="3021806"/>
            <a:ext cx="3471863" cy="430411"/>
          </a:xfrm>
          <a:prstGeom prst="roundRect">
            <a:avLst>
              <a:gd name="adj" fmla="val 885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5257800" y="3021806"/>
            <a:ext cx="0" cy="430411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86388" y="3114675"/>
            <a:ext cx="67932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6137151" y="3107531"/>
            <a:ext cx="2463924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Scales beyond single-HTML search limits — supports hundreds/thousands of packages.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43513" y="3523655"/>
            <a:ext cx="3471863" cy="430411"/>
          </a:xfrm>
          <a:prstGeom prst="roundRect">
            <a:avLst>
              <a:gd name="adj" fmla="val 885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5257800" y="3523655"/>
            <a:ext cx="0" cy="430411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86388" y="3616523"/>
            <a:ext cx="55051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5" name="Text 33"/>
          <p:cNvSpPr/>
          <p:nvPr/>
        </p:nvSpPr>
        <p:spPr>
          <a:xfrm>
            <a:off x="6008340" y="3609380"/>
            <a:ext cx="259273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for future catalog, API, and impact-analysis capabilities.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243513" y="4025503"/>
            <a:ext cx="3471863" cy="430411"/>
          </a:xfrm>
          <a:prstGeom prst="roundRect">
            <a:avLst>
              <a:gd name="adj" fmla="val 8852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5257800" y="4025503"/>
            <a:ext cx="0" cy="430411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86388" y="4118372"/>
            <a:ext cx="34301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2E2E3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9" name="Text 37"/>
          <p:cNvSpPr/>
          <p:nvPr/>
        </p:nvSpPr>
        <p:spPr>
          <a:xfrm>
            <a:off x="5800837" y="4111228"/>
            <a:ext cx="280023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HTML reporting stays intact; SQLite adds scalable lookup artifacts.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00038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49649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Demo Story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863612"/>
            <a:ext cx="6858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seven-step demo that takes a stakeholder from estate launch through search, package drilldown, and Excel evidence — answering where a table comes from, which packages write to it, and what should be migrated first.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614363" y="1735931"/>
            <a:ext cx="7915275" cy="21431"/>
          </a:xfrm>
          <a:prstGeom prst="roundRect">
            <a:avLst>
              <a:gd name="adj" fmla="val 88890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1613" y="2894447"/>
            <a:ext cx="6200775" cy="21431"/>
          </a:xfrm>
          <a:prstGeom prst="roundRect">
            <a:avLst>
              <a:gd name="adj" fmla="val 88890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8625" y="3750134"/>
            <a:ext cx="8286750" cy="510220"/>
          </a:xfrm>
          <a:prstGeom prst="roundRect">
            <a:avLst>
              <a:gd name="adj" fmla="val 7467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42913" y="3750134"/>
            <a:ext cx="0" cy="510220"/>
          </a:xfrm>
          <a:prstGeom prst="line">
            <a:avLst/>
          </a:prstGeom>
          <a:noFill/>
          <a:ln w="28575">
            <a:solidFill>
              <a:srgbClr val="FFE6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4363" y="3850146"/>
            <a:ext cx="8053578" cy="133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3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QUESTIONS THE DEMO ANSWERS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4363" y="4010881"/>
            <a:ext cx="7943850" cy="149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i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does this table come from? · Which packages write to it? · What columns are unresolved? · What should be migrated first?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15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39341" y="1568053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8625" y="155733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428625" y="2028825"/>
            <a:ext cx="708390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EXE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428625" y="2195922"/>
            <a:ext cx="1825117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the DataFlow Sentinel desktop application.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53891" y="1568053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43175" y="155733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2543175" y="2028825"/>
            <a:ext cx="1086198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DTSX folder</a:t>
            </a:r>
            <a:endParaRPr lang="en-US" sz="816" dirty="0"/>
          </a:p>
        </p:txBody>
      </p:sp>
      <p:sp>
        <p:nvSpPr>
          <p:cNvPr id="23" name="Text 21"/>
          <p:cNvSpPr/>
          <p:nvPr/>
        </p:nvSpPr>
        <p:spPr>
          <a:xfrm>
            <a:off x="2543175" y="2195922"/>
            <a:ext cx="1943100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input package folder and output destination.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8441" y="1568053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657725" y="155733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238" dirty="0"/>
          </a:p>
        </p:txBody>
      </p:sp>
      <p:sp>
        <p:nvSpPr>
          <p:cNvPr id="26" name="Text 24"/>
          <p:cNvSpPr/>
          <p:nvPr/>
        </p:nvSpPr>
        <p:spPr>
          <a:xfrm>
            <a:off x="4657725" y="2028825"/>
            <a:ext cx="748944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analysis</a:t>
            </a:r>
            <a:endParaRPr lang="en-US" sz="816" dirty="0"/>
          </a:p>
        </p:txBody>
      </p:sp>
      <p:sp>
        <p:nvSpPr>
          <p:cNvPr id="27" name="Text 25"/>
          <p:cNvSpPr/>
          <p:nvPr/>
        </p:nvSpPr>
        <p:spPr>
          <a:xfrm>
            <a:off x="4657725" y="2195922"/>
            <a:ext cx="1626759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column-lineage toggle enabled.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82991" y="1568053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772275" y="155733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238" dirty="0"/>
          </a:p>
        </p:txBody>
      </p:sp>
      <p:sp>
        <p:nvSpPr>
          <p:cNvPr id="30" name="Text 28"/>
          <p:cNvSpPr/>
          <p:nvPr/>
        </p:nvSpPr>
        <p:spPr>
          <a:xfrm>
            <a:off x="6772275" y="2028825"/>
            <a:ext cx="1126752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master report</a:t>
            </a:r>
            <a:endParaRPr lang="en-US" sz="816" dirty="0"/>
          </a:p>
        </p:txBody>
      </p:sp>
      <p:sp>
        <p:nvSpPr>
          <p:cNvPr id="31" name="Text 29"/>
          <p:cNvSpPr/>
          <p:nvPr/>
        </p:nvSpPr>
        <p:spPr>
          <a:xfrm>
            <a:off x="6772275" y="2195922"/>
            <a:ext cx="1507970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package inventory and KPIs.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296591" y="2726568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85875" y="271585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1285875" y="3187340"/>
            <a:ext cx="1187452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table/column</a:t>
            </a:r>
            <a:endParaRPr lang="en-US" sz="816" dirty="0"/>
          </a:p>
        </p:txBody>
      </p:sp>
      <p:sp>
        <p:nvSpPr>
          <p:cNvPr id="35" name="Text 33"/>
          <p:cNvSpPr/>
          <p:nvPr/>
        </p:nvSpPr>
        <p:spPr>
          <a:xfrm>
            <a:off x="1285875" y="3354437"/>
            <a:ext cx="1312316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SQLite-backed search grid.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563503" y="2726568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52788" y="271585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1238" dirty="0"/>
          </a:p>
        </p:txBody>
      </p:sp>
      <p:sp>
        <p:nvSpPr>
          <p:cNvPr id="38" name="Text 36"/>
          <p:cNvSpPr/>
          <p:nvPr/>
        </p:nvSpPr>
        <p:spPr>
          <a:xfrm>
            <a:off x="3552788" y="3187340"/>
            <a:ext cx="1180781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package detail</a:t>
            </a:r>
            <a:endParaRPr lang="en-US" sz="816" dirty="0"/>
          </a:p>
        </p:txBody>
      </p:sp>
      <p:sp>
        <p:nvSpPr>
          <p:cNvPr id="39" name="Text 37"/>
          <p:cNvSpPr/>
          <p:nvPr/>
        </p:nvSpPr>
        <p:spPr>
          <a:xfrm>
            <a:off x="3552788" y="3354437"/>
            <a:ext cx="1080738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Drill into a single package.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830416" y="2726568"/>
            <a:ext cx="350044" cy="350044"/>
          </a:xfrm>
          <a:prstGeom prst="ellipse">
            <a:avLst/>
          </a:prstGeom>
          <a:solidFill>
            <a:srgbClr val="FFE600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14300" dist="38100" dir="5400000">
              <a:srgbClr val="FFE600">
                <a:alpha val="4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19701" y="271585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1238" dirty="0"/>
          </a:p>
        </p:txBody>
      </p:sp>
      <p:sp>
        <p:nvSpPr>
          <p:cNvPr id="42" name="Text 40"/>
          <p:cNvSpPr/>
          <p:nvPr/>
        </p:nvSpPr>
        <p:spPr>
          <a:xfrm>
            <a:off x="5819701" y="3187340"/>
            <a:ext cx="1322851" cy="134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1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Excel evidence</a:t>
            </a:r>
            <a:endParaRPr lang="en-US" sz="816" dirty="0"/>
          </a:p>
        </p:txBody>
      </p:sp>
      <p:sp>
        <p:nvSpPr>
          <p:cNvPr id="43" name="Text 41"/>
          <p:cNvSpPr/>
          <p:nvPr/>
        </p:nvSpPr>
        <p:spPr>
          <a:xfrm>
            <a:off x="5819701" y="3354437"/>
            <a:ext cx="1969197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Resolution summary, column lineage, coverage.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00038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496491"/>
            <a:ext cx="82867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This Creates Value for EY and Clients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863612"/>
            <a:ext cx="68580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value areas connect the technical features to program outcomes — faster discovery, better estimates, fewer migration surprises, and stronger evidence for governance.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28625" y="1557338"/>
            <a:ext cx="2666963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8625" y="1568053"/>
            <a:ext cx="2666963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788" y="1721644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11505" y="17473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585788" y="2107406"/>
            <a:ext cx="23526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discovery</a:t>
            </a:r>
            <a:endParaRPr lang="en-US" sz="956" dirty="0"/>
          </a:p>
        </p:txBody>
      </p:sp>
      <p:sp>
        <p:nvSpPr>
          <p:cNvPr id="12" name="Text 10"/>
          <p:cNvSpPr/>
          <p:nvPr/>
        </p:nvSpPr>
        <p:spPr>
          <a:xfrm>
            <a:off x="585788" y="2310222"/>
            <a:ext cx="2352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Automated parsing replaces weeks of manual package inspection across the estate.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85788" y="2786063"/>
            <a:ext cx="2352638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38463" y="1557338"/>
            <a:ext cx="2666963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463" y="1568053"/>
            <a:ext cx="2666963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5625" y="1721644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1343" y="17473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688" dirty="0"/>
          </a:p>
        </p:txBody>
      </p:sp>
      <p:sp>
        <p:nvSpPr>
          <p:cNvPr id="18" name="Text 16"/>
          <p:cNvSpPr/>
          <p:nvPr/>
        </p:nvSpPr>
        <p:spPr>
          <a:xfrm>
            <a:off x="3395625" y="2107406"/>
            <a:ext cx="23526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migration scoping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3395625" y="2310222"/>
            <a:ext cx="2352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SSIS complexity before Azure, Databricks, Fabric, or PySpark migration.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95625" y="2786063"/>
            <a:ext cx="2352638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48301" y="1557338"/>
            <a:ext cx="2667074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48301" y="1568053"/>
            <a:ext cx="2667074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05463" y="1721644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231181" y="174736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6205463" y="2107406"/>
            <a:ext cx="235274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evidence</a:t>
            </a:r>
            <a:endParaRPr lang="en-US" sz="956" dirty="0"/>
          </a:p>
        </p:txBody>
      </p:sp>
      <p:sp>
        <p:nvSpPr>
          <p:cNvPr id="26" name="Text 24"/>
          <p:cNvSpPr/>
          <p:nvPr/>
        </p:nvSpPr>
        <p:spPr>
          <a:xfrm>
            <a:off x="6205463" y="2310222"/>
            <a:ext cx="2352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Source-target and column-coverage packs for governance and compliance review.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05463" y="2786063"/>
            <a:ext cx="2352749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8625" y="3250406"/>
            <a:ext cx="2666963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428625" y="3261122"/>
            <a:ext cx="2666963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788" y="3414713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1505" y="34404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lang="en-US" sz="1688" dirty="0"/>
          </a:p>
        </p:txBody>
      </p:sp>
      <p:sp>
        <p:nvSpPr>
          <p:cNvPr id="32" name="Text 30"/>
          <p:cNvSpPr/>
          <p:nvPr/>
        </p:nvSpPr>
        <p:spPr>
          <a:xfrm>
            <a:off x="585788" y="3800475"/>
            <a:ext cx="23526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 analysis</a:t>
            </a:r>
            <a:endParaRPr lang="en-US" sz="956" dirty="0"/>
          </a:p>
        </p:txBody>
      </p:sp>
      <p:sp>
        <p:nvSpPr>
          <p:cNvPr id="33" name="Text 31"/>
          <p:cNvSpPr/>
          <p:nvPr/>
        </p:nvSpPr>
        <p:spPr>
          <a:xfrm>
            <a:off x="585788" y="4003291"/>
            <a:ext cx="2352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upstream and downstream package/table dependencies before changes.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5788" y="4479131"/>
            <a:ext cx="2352638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38463" y="3250406"/>
            <a:ext cx="2666963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238463" y="3261122"/>
            <a:ext cx="2666963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95625" y="3414713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421343" y="34404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688" dirty="0"/>
          </a:p>
        </p:txBody>
      </p:sp>
      <p:sp>
        <p:nvSpPr>
          <p:cNvPr id="39" name="Text 37"/>
          <p:cNvSpPr/>
          <p:nvPr/>
        </p:nvSpPr>
        <p:spPr>
          <a:xfrm>
            <a:off x="3395625" y="3800475"/>
            <a:ext cx="2352638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Reduced manual review</a:t>
            </a:r>
            <a:endParaRPr lang="en-US" sz="956" dirty="0"/>
          </a:p>
        </p:txBody>
      </p:sp>
      <p:sp>
        <p:nvSpPr>
          <p:cNvPr id="40" name="Text 38"/>
          <p:cNvSpPr/>
          <p:nvPr/>
        </p:nvSpPr>
        <p:spPr>
          <a:xfrm>
            <a:off x="3395625" y="4003291"/>
            <a:ext cx="23526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engine cuts analyst hours per package from days to minutes.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95625" y="4479131"/>
            <a:ext cx="2352638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EFFICIENCY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48301" y="3250406"/>
            <a:ext cx="2667074" cy="1550194"/>
          </a:xfrm>
          <a:prstGeom prst="roundRect">
            <a:avLst>
              <a:gd name="adj" fmla="val 2458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48301" y="3261122"/>
            <a:ext cx="2667074" cy="0"/>
          </a:xfrm>
          <a:prstGeom prst="line">
            <a:avLst/>
          </a:prstGeom>
          <a:noFill/>
          <a:ln w="21431">
            <a:solidFill>
              <a:srgbClr val="FFE6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5463" y="3414713"/>
            <a:ext cx="300038" cy="300038"/>
          </a:xfrm>
          <a:prstGeom prst="roundRect">
            <a:avLst>
              <a:gd name="adj" fmla="val 12698"/>
            </a:avLst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231181" y="3440430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6" name="Text 44"/>
          <p:cNvSpPr/>
          <p:nvPr/>
        </p:nvSpPr>
        <p:spPr>
          <a:xfrm>
            <a:off x="6205463" y="3800475"/>
            <a:ext cx="2352749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EY accelerator</a:t>
            </a:r>
            <a:endParaRPr lang="en-US" sz="956" dirty="0"/>
          </a:p>
        </p:txBody>
      </p:sp>
      <p:sp>
        <p:nvSpPr>
          <p:cNvPr id="47" name="Text 45"/>
          <p:cNvSpPr/>
          <p:nvPr/>
        </p:nvSpPr>
        <p:spPr>
          <a:xfrm>
            <a:off x="6205463" y="4003291"/>
            <a:ext cx="235274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Packaged IP for repeatable client delivery across migration programs.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205463" y="4479131"/>
            <a:ext cx="2352749" cy="178594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90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LEVERAGE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42863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86663" y="157163"/>
            <a:ext cx="64025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spc="56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</a:t>
            </a:r>
            <a:endParaRPr lang="en-US" sz="1013" dirty="0"/>
          </a:p>
        </p:txBody>
      </p:sp>
      <p:sp>
        <p:nvSpPr>
          <p:cNvPr id="4" name="Text 2"/>
          <p:cNvSpPr/>
          <p:nvPr/>
        </p:nvSpPr>
        <p:spPr>
          <a:xfrm>
            <a:off x="428625" y="300038"/>
            <a:ext cx="86360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35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&amp; 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28625" y="496491"/>
            <a:ext cx="8636000" cy="319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b="1" spc="-23" kern="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and Next Steps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28625" y="863612"/>
            <a:ext cx="6858000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credible product roadmap — the current tool is already demoable; the roadmap shows how it becomes a broader migration platform.</a:t>
            </a:r>
            <a:endParaRPr lang="en-US" sz="844" dirty="0"/>
          </a:p>
        </p:txBody>
      </p:sp>
      <p:sp>
        <p:nvSpPr>
          <p:cNvPr id="7" name="Text 5"/>
          <p:cNvSpPr/>
          <p:nvPr/>
        </p:nvSpPr>
        <p:spPr>
          <a:xfrm>
            <a:off x="432197" y="1475184"/>
            <a:ext cx="2659819" cy="1239217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5769" y="1478756"/>
            <a:ext cx="2652675" cy="463897"/>
          </a:xfrm>
          <a:prstGeom prst="rect">
            <a:avLst/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0069" y="1564481"/>
            <a:ext cx="242407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1" kern="0" dirty="0">
                <a:solidFill>
                  <a:srgbClr val="2E2E38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HORIZON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0069" y="1705570"/>
            <a:ext cx="24240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 &amp; Scale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5769" y="1942654"/>
            <a:ext cx="2652675" cy="768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0069" y="2042666"/>
            <a:ext cx="2424075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Compress large report payloads for big estates.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0069" y="2248719"/>
            <a:ext cx="2424075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 master search directly to SQLite sidecar.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0069" y="2454771"/>
            <a:ext cx="2424075" cy="141759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SQLite-powered search responsiveness.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242035" y="1475184"/>
            <a:ext cx="2659819" cy="1239217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45607" y="1478756"/>
            <a:ext cx="2652675" cy="463897"/>
          </a:xfrm>
          <a:prstGeom prst="rect">
            <a:avLst/>
          </a:prstGeom>
          <a:solidFill>
            <a:srgbClr val="2E2E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59907" y="1564481"/>
            <a:ext cx="2424075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1" kern="0" dirty="0">
                <a:solidFill>
                  <a:srgbClr val="FFFFFF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HORIZON 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359907" y="1705570"/>
            <a:ext cx="2424075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1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Visualize &amp; Stitch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5607" y="1942654"/>
            <a:ext cx="2652675" cy="76817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9907" y="2042666"/>
            <a:ext cx="2424075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column-journey overlay on data-flow graph.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59907" y="2248719"/>
            <a:ext cx="2424075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cross-package journey stitching.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59907" y="2454771"/>
            <a:ext cx="2424075" cy="141759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 diff mode for migration change analysis.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51872" y="1475184"/>
            <a:ext cx="2659931" cy="1239217"/>
          </a:xfrm>
          <a:prstGeom prst="roundRect">
            <a:avLst>
              <a:gd name="adj" fmla="val 3075"/>
            </a:avLst>
          </a:prstGeom>
          <a:solidFill>
            <a:srgbClr val="FFFFFF"/>
          </a:solidFill>
          <a:ln w="7144">
            <a:solidFill>
              <a:srgbClr val="E5E5EA"/>
            </a:solidFill>
            <a:prstDash val="solid"/>
          </a:ln>
          <a:effectLst>
            <a:outerShdw sx="100000" sy="100000" kx="0" ky="0" algn="bl" rotWithShape="0" blurRad="57150" dist="19050" dir="5400000">
              <a:srgbClr val="000000">
                <a:alpha val="4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55444" y="1478756"/>
            <a:ext cx="2652787" cy="471041"/>
          </a:xfrm>
          <a:prstGeom prst="rect">
            <a:avLst/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055444" y="1946225"/>
            <a:ext cx="2652787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9744" y="1564481"/>
            <a:ext cx="2424187" cy="11365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1" kern="0" dirty="0">
                <a:solidFill>
                  <a:srgbClr val="2E2E38">
                    <a:alpha val="7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HORIZON 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69744" y="1705570"/>
            <a:ext cx="2424187" cy="137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Modernize &amp; Transpile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55444" y="1949797"/>
            <a:ext cx="2652787" cy="76103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69744" y="2049810"/>
            <a:ext cx="2424187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toward PySpark scaffolding.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69744" y="2255862"/>
            <a:ext cx="2424187" cy="159053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heatmap overlay using SSISDB exports.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69744" y="2461915"/>
            <a:ext cx="2424187" cy="134615"/>
          </a:xfrm>
          <a:prstGeom prst="rect">
            <a:avLst/>
          </a:prstGeom>
          <a:noFill/>
          <a:ln/>
        </p:spPr>
        <p:txBody>
          <a:bodyPr wrap="square" lIns="128588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Modernization north-star: transpiler.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8625" y="2839417"/>
            <a:ext cx="8186738" cy="21431"/>
          </a:xfrm>
          <a:prstGeom prst="roundRect">
            <a:avLst>
              <a:gd name="adj" fmla="val 88890"/>
            </a:avLst>
          </a:prstGeom>
          <a:solidFill>
            <a:srgbClr val="FFE6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8625" y="3686175"/>
            <a:ext cx="8286750" cy="1114425"/>
          </a:xfrm>
          <a:prstGeom prst="roundRect">
            <a:avLst>
              <a:gd name="adj" fmla="val 3419"/>
            </a:avLst>
          </a:prstGeom>
          <a:solidFill>
            <a:srgbClr val="F6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57200" y="3686175"/>
            <a:ext cx="0" cy="1114425"/>
          </a:xfrm>
          <a:prstGeom prst="line">
            <a:avLst/>
          </a:prstGeom>
          <a:noFill/>
          <a:ln w="57150">
            <a:solidFill>
              <a:srgbClr val="FFE6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1513" y="3814763"/>
            <a:ext cx="4549211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24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ASK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71513" y="3975497"/>
            <a:ext cx="3429000" cy="424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7"/>
              </a:lnSpc>
              <a:buNone/>
            </a:pPr>
            <a:r>
              <a:rPr lang="en-US" sz="1238" b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controlled pilot on a representative SSIS estate.</a:t>
            </a:r>
            <a:endParaRPr lang="en-US" sz="1238" dirty="0"/>
          </a:p>
        </p:txBody>
      </p:sp>
      <p:sp>
        <p:nvSpPr>
          <p:cNvPr id="37" name="Text 35"/>
          <p:cNvSpPr/>
          <p:nvPr/>
        </p:nvSpPr>
        <p:spPr>
          <a:xfrm>
            <a:off x="4877302" y="3947515"/>
            <a:ext cx="463638" cy="288136"/>
          </a:xfrm>
          <a:prstGeom prst="roundRect">
            <a:avLst>
              <a:gd name="adj" fmla="val 3302425"/>
            </a:avLst>
          </a:prstGeom>
          <a:solidFill>
            <a:srgbClr val="FFE600"/>
          </a:solidFill>
          <a:ln/>
          <a:effectLst>
            <a:outerShdw sx="100000" sy="100000" kx="0" ky="0" algn="bl" rotWithShape="0" blurRad="57150" dist="19050" dir="5400000">
              <a:srgbClr val="FFE6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94473" y="3960316"/>
            <a:ext cx="429295" cy="262533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38056" y="4013002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40" name="Text 38"/>
          <p:cNvSpPr/>
          <p:nvPr/>
        </p:nvSpPr>
        <p:spPr>
          <a:xfrm>
            <a:off x="5543796" y="3947515"/>
            <a:ext cx="623359" cy="288136"/>
          </a:xfrm>
          <a:prstGeom prst="roundRect">
            <a:avLst>
              <a:gd name="adj" fmla="val 3302425"/>
            </a:avLst>
          </a:prstGeom>
          <a:solidFill>
            <a:srgbClr val="FFE600"/>
          </a:solidFill>
          <a:ln/>
          <a:effectLst>
            <a:outerShdw sx="100000" sy="100000" kx="0" ky="0" algn="bl" rotWithShape="0" blurRad="57150" dist="19050" dir="5400000">
              <a:srgbClr val="FFE6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566656" y="3960316"/>
            <a:ext cx="577639" cy="262533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158582" y="4013002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43" name="Text 41"/>
          <p:cNvSpPr/>
          <p:nvPr/>
        </p:nvSpPr>
        <p:spPr>
          <a:xfrm>
            <a:off x="6364322" y="3947515"/>
            <a:ext cx="918374" cy="288136"/>
          </a:xfrm>
          <a:prstGeom prst="roundRect">
            <a:avLst>
              <a:gd name="adj" fmla="val 3302425"/>
            </a:avLst>
          </a:prstGeom>
          <a:solidFill>
            <a:srgbClr val="FFE600"/>
          </a:solidFill>
          <a:ln/>
          <a:effectLst>
            <a:outerShdw sx="100000" sy="100000" kx="0" ky="0" algn="bl" rotWithShape="0" blurRad="57150" dist="19050" dir="5400000">
              <a:srgbClr val="FFE6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387182" y="3960316"/>
            <a:ext cx="872654" cy="262533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Pack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274123" y="4013002"/>
            <a:ext cx="21431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E60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1238" dirty="0"/>
          </a:p>
        </p:txBody>
      </p:sp>
      <p:sp>
        <p:nvSpPr>
          <p:cNvPr id="46" name="Text 44"/>
          <p:cNvSpPr/>
          <p:nvPr/>
        </p:nvSpPr>
        <p:spPr>
          <a:xfrm>
            <a:off x="7479863" y="3947515"/>
            <a:ext cx="1072634" cy="288136"/>
          </a:xfrm>
          <a:prstGeom prst="roundRect">
            <a:avLst>
              <a:gd name="adj" fmla="val 3302425"/>
            </a:avLst>
          </a:prstGeom>
          <a:solidFill>
            <a:srgbClr val="FFE600"/>
          </a:solidFill>
          <a:ln/>
          <a:effectLst>
            <a:outerShdw sx="100000" sy="100000" kx="0" ky="0" algn="bl" rotWithShape="0" blurRad="57150" dist="19050" dir="5400000">
              <a:srgbClr val="FFE600">
                <a:alpha val="3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502723" y="3960316"/>
            <a:ext cx="1026914" cy="262533"/>
          </a:xfrm>
          <a:prstGeom prst="rect">
            <a:avLst/>
          </a:prstGeom>
          <a:noFill/>
          <a:ln/>
        </p:spPr>
        <p:txBody>
          <a:bodyPr wrap="none" lIns="114300" tIns="64294" rIns="114300" bIns="64294" rtlCol="0" anchor="ctr"/>
          <a:lstStyle/>
          <a:p>
            <a:pPr algn="ctr" indent="0" marL="0">
              <a:lnSpc>
                <a:spcPts val="1055"/>
              </a:lnSpc>
              <a:buNone/>
            </a:pPr>
            <a:r>
              <a:rPr lang="en-US" sz="800" b="1" spc="11" kern="0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Migration Backlog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71513" y="4471988"/>
            <a:ext cx="7858125" cy="0"/>
          </a:xfrm>
          <a:prstGeom prst="line">
            <a:avLst/>
          </a:prstGeom>
          <a:noFill/>
          <a:ln w="7144">
            <a:solidFill>
              <a:srgbClr val="B5B5BE"/>
            </a:solidFill>
            <a:prstDash val="dash"/>
          </a:ln>
        </p:spPr>
      </p:sp>
      <p:sp>
        <p:nvSpPr>
          <p:cNvPr id="49" name="Text 47"/>
          <p:cNvSpPr/>
          <p:nvPr/>
        </p:nvSpPr>
        <p:spPr>
          <a:xfrm>
            <a:off x="671513" y="4468416"/>
            <a:ext cx="7858125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2E2E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DataFlow Sentinel helps turn legacy SSIS complexity into actionable engineering intelligence.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57175" y="4889897"/>
            <a:ext cx="8629650" cy="0"/>
          </a:xfrm>
          <a:prstGeom prst="line">
            <a:avLst/>
          </a:prstGeom>
          <a:noFill/>
          <a:ln w="7144">
            <a:solidFill>
              <a:srgbClr val="E5E5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7175" y="4936331"/>
            <a:ext cx="838687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EY Confidential | DataFlow Sentinel SSIS Lineage Accelerator | (c) 2026 EY. All rights reserved.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658337" y="4936331"/>
            <a:ext cx="2284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11" kern="0" dirty="0">
                <a:solidFill>
                  <a:srgbClr val="7474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2026-07-07T12:16:05Z</dcterms:created>
  <dcterms:modified xsi:type="dcterms:W3CDTF">2026-07-07T12:16:05Z</dcterms:modified>
</cp:coreProperties>
</file>